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embedTrueTypeFonts="1" saveSubsetFonts="1">
  <p:sldMasterIdLst>
    <p:sldMasterId id="2147483661" r:id="rId1"/>
  </p:sldMasterIdLst>
  <p:notesMasterIdLst>
    <p:notesMasterId r:id="rId2"/>
  </p:notesMasterIdLst>
  <p:sldIdLst>
    <p:sldId id="268" r:id="rId3"/>
    <p:sldId id="269" r:id="rId4"/>
    <p:sldId id="270" r:id="rId5"/>
    <p:sldId id="271" r:id="rId6"/>
    <p:sldId id="272" r:id="rId7"/>
    <p:sldId id="273" r:id="rId8"/>
    <p:sldId id="274" r:id="rId9"/>
    <p:sldId id="275" r:id="rId10"/>
    <p:sldId id="276" r:id="rId11"/>
    <p:sldId id="277" r:id="rId12"/>
    <p:sldId id="278" r:id="rId13"/>
  </p:sldIdLst>
  <p:sldSz cy="10287000" cx="18288000"/>
  <p:notesSz cx="6858000" cy="9144000"/>
  <p:embeddedFontLst>
    <p:embeddedFont>
      <p:font typeface="Calibri (MS) Bold" panose="020F0702030404030204" charset="1"/>
      <p:regular r:id="rId14"/>
    </p:embeddedFont>
    <p:embeddedFont>
      <p:font typeface="Calibri (MS)" panose="020F0502020204030204" charset="1"/>
      <p:regular r:id="rId15"/>
    </p:embeddedFont>
  </p:embeddedFontLst>
  <p:defaultTextStyle>
    <a:defPPr>
      <a:defRPr lang="en-US"/>
    </a:defPPr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font" Target="fonts/font1.fntdata"/><Relationship Id="rId15" Type="http://schemas.openxmlformats.org/officeDocument/2006/relationships/font" Target="fonts/font2.fntdata"/><Relationship Id="rId16" Type="http://schemas.openxmlformats.org/officeDocument/2006/relationships/tableStyles" Target="tableStyles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8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868" name="Rectangle 4"/>
          <p:cNvSpPr>
            <a:spLocks noChangeAspect="1" noRot="1" noGrp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/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8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8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8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1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1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812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algn="ctr" indent="0" mar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algn="ctr" indent="0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104881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8/1/2011</a:t>
            </a:fld>
            <a:endParaRPr lang="en-US"/>
          </a:p>
        </p:txBody>
      </p:sp>
      <p:sp>
        <p:nvSpPr>
          <p:cNvPr id="104881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81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5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826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82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8/1/2011</a:t>
            </a:fld>
            <a:endParaRPr lang="en-US"/>
          </a:p>
        </p:txBody>
      </p:sp>
      <p:sp>
        <p:nvSpPr>
          <p:cNvPr id="104882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82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1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1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b="1" cap="all" sz="4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842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indent="0" mar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84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8/1/2011</a:t>
            </a:fld>
            <a:endParaRPr lang="en-US"/>
          </a:p>
        </p:txBody>
      </p:sp>
      <p:sp>
        <p:nvSpPr>
          <p:cNvPr id="104884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84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1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847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848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84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8/1/2011</a:t>
            </a:fld>
            <a:endParaRPr lang="en-US"/>
          </a:p>
        </p:txBody>
      </p:sp>
      <p:sp>
        <p:nvSpPr>
          <p:cNvPr id="104885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85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1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85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85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85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85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85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8/1/2011</a:t>
            </a:fld>
            <a:endParaRPr lang="en-US"/>
          </a:p>
        </p:txBody>
      </p:sp>
      <p:sp>
        <p:nvSpPr>
          <p:cNvPr id="104885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85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1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81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8/1/2011</a:t>
            </a:fld>
            <a:endParaRPr lang="en-US"/>
          </a:p>
        </p:txBody>
      </p:sp>
      <p:sp>
        <p:nvSpPr>
          <p:cNvPr id="1048818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819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8/1/2011</a:t>
            </a:fld>
            <a:endParaRPr lang="en-US"/>
          </a:p>
        </p:txBody>
      </p:sp>
      <p:sp>
        <p:nvSpPr>
          <p:cNvPr id="1048582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58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1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60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861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862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863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8/1/2011</a:t>
            </a:fld>
            <a:endParaRPr lang="en-US"/>
          </a:p>
        </p:txBody>
      </p:sp>
      <p:sp>
        <p:nvSpPr>
          <p:cNvPr id="1048864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865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1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0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831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endParaRPr lang="en-US"/>
          </a:p>
        </p:txBody>
      </p:sp>
      <p:sp>
        <p:nvSpPr>
          <p:cNvPr id="1048832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833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8/1/2011</a:t>
            </a:fld>
            <a:endParaRPr lang="en-US"/>
          </a:p>
        </p:txBody>
      </p:sp>
      <p:sp>
        <p:nvSpPr>
          <p:cNvPr id="1048834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835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1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837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83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8/1/2011</a:t>
            </a:fld>
            <a:endParaRPr lang="en-US"/>
          </a:p>
        </p:txBody>
      </p:sp>
      <p:sp>
        <p:nvSpPr>
          <p:cNvPr id="104883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84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1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0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821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82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8/1/2011</a:t>
            </a:fld>
            <a:endParaRPr lang="en-US"/>
          </a:p>
        </p:txBody>
      </p:sp>
      <p:sp>
        <p:nvSpPr>
          <p:cNvPr id="104882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82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8/1/2011</a:t>
            </a:fld>
            <a:endParaRPr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ctr" defTabSz="914400" eaLnBrk="1" hangingPunct="1" latinLnBrk="0" rtl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342900" latinLnBrk="0" marL="342900" rtl="0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85750" latinLnBrk="0" marL="742950" rtl="0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</p:bgPr>
    </p:bg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4" name="TextBox 2"/>
          <p:cNvSpPr txBox="1"/>
          <p:nvPr/>
        </p:nvSpPr>
        <p:spPr>
          <a:xfrm rot="0">
            <a:off x="3671922" y="1501492"/>
            <a:ext cx="11131450" cy="1120901"/>
          </a:xfrm>
          <a:prstGeom prst="rect"/>
        </p:spPr>
        <p:txBody>
          <a:bodyPr anchor="t" bIns="0" lIns="0" rIns="0" rtlCol="0" tIns="0">
            <a:spAutoFit/>
          </a:bodyPr>
          <a:p>
            <a:pPr algn="ctr">
              <a:lnSpc>
                <a:spcPts val="4413"/>
              </a:lnSpc>
              <a:spcBef>
                <a:spcPct val="0"/>
              </a:spcBef>
            </a:pPr>
            <a:r>
              <a:rPr b="1" sz="3677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Topic : LegalEase:Al Powered Legal Documents generated </a:t>
            </a:r>
          </a:p>
        </p:txBody>
      </p:sp>
      <p:sp>
        <p:nvSpPr>
          <p:cNvPr id="1048585" name="TextBox 3"/>
          <p:cNvSpPr txBox="1"/>
          <p:nvPr/>
        </p:nvSpPr>
        <p:spPr>
          <a:xfrm rot="0">
            <a:off x="6207635" y="3728417"/>
            <a:ext cx="5467573" cy="4190365"/>
          </a:xfrm>
          <a:prstGeom prst="rect"/>
        </p:spPr>
        <p:txBody>
          <a:bodyPr anchor="t" bIns="0" lIns="0" rIns="0" rtlCol="0" tIns="0">
            <a:spAutoFit/>
          </a:bodyPr>
          <a:p>
            <a:pPr algn="ctr">
              <a:lnSpc>
                <a:spcPts val="6599"/>
              </a:lnSpc>
            </a:pPr>
            <a:r>
              <a:rPr b="1" sz="4000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Team Members:</a:t>
            </a:r>
            <a:endParaRPr sz="3600"/>
          </a:p>
          <a:p>
            <a:pPr algn="ctr">
              <a:lnSpc>
                <a:spcPts val="6599"/>
              </a:lnSpc>
            </a:pPr>
            <a:r>
              <a:rPr b="1" sz="4000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</a:t>
            </a:r>
            <a:r>
              <a:rPr b="1" sz="4000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.</a:t>
            </a:r>
            <a:r>
              <a:rPr b="1" sz="4000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</a:t>
            </a:r>
            <a:r>
              <a:rPr b="1" sz="4000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.</a:t>
            </a:r>
            <a:r>
              <a:rPr b="1" sz="4000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</a:t>
            </a:r>
            <a:r>
              <a:rPr b="1" sz="4000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</a:t>
            </a:r>
            <a:r>
              <a:rPr b="1" sz="4000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</a:t>
            </a:r>
            <a:r>
              <a:rPr b="1" sz="4000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</a:t>
            </a:r>
            <a:r>
              <a:rPr b="1" sz="4000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</a:t>
            </a:r>
            <a:r>
              <a:rPr b="1" sz="4000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</a:t>
            </a:r>
            <a:r>
              <a:rPr b="1" sz="4000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</a:t>
            </a:r>
            <a:r>
              <a:rPr b="1" sz="4000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</a:t>
            </a:r>
            <a:r>
              <a:rPr b="1" sz="4000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</a:t>
            </a:r>
            <a:endParaRPr sz="3600"/>
          </a:p>
          <a:p>
            <a:pPr algn="ctr">
              <a:lnSpc>
                <a:spcPts val="6599"/>
              </a:lnSpc>
            </a:pPr>
            <a:r>
              <a:rPr b="1" sz="4000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</a:t>
            </a:r>
            <a:r>
              <a:rPr b="1" sz="4000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.</a:t>
            </a:r>
            <a:r>
              <a:rPr b="1" sz="4000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</a:t>
            </a:r>
            <a:r>
              <a:rPr b="1" sz="4000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.</a:t>
            </a:r>
            <a:r>
              <a:rPr b="1" sz="4000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</a:t>
            </a:r>
            <a:r>
              <a:rPr b="1" sz="4000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</a:t>
            </a:r>
            <a:r>
              <a:rPr b="1" sz="4000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</a:t>
            </a:r>
            <a:r>
              <a:rPr b="1" sz="4000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</a:t>
            </a:r>
            <a:r>
              <a:rPr b="1" sz="4000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</a:t>
            </a:r>
            <a:r>
              <a:rPr b="1" sz="4000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</a:t>
            </a:r>
            <a:r>
              <a:rPr b="1" sz="4000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</a:t>
            </a:r>
            <a:r>
              <a:rPr b="1" sz="4000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</a:t>
            </a:r>
            <a:r>
              <a:rPr b="1" sz="4000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</a:t>
            </a:r>
            <a:r>
              <a:rPr b="1" sz="4000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j</a:t>
            </a:r>
            <a:r>
              <a:rPr b="1" sz="4000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</a:t>
            </a:r>
            <a:endParaRPr sz="3600"/>
          </a:p>
          <a:p>
            <a:pPr algn="ctr">
              <a:lnSpc>
                <a:spcPts val="6599"/>
              </a:lnSpc>
            </a:pPr>
            <a:r>
              <a:rPr b="1" sz="4000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</a:t>
            </a:r>
            <a:r>
              <a:rPr b="1" sz="4000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.</a:t>
            </a:r>
            <a:r>
              <a:rPr b="1" sz="4000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</a:t>
            </a:r>
            <a:r>
              <a:rPr b="1" sz="4000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.</a:t>
            </a:r>
            <a:r>
              <a:rPr b="1" sz="4000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</a:t>
            </a:r>
            <a:r>
              <a:rPr b="1" sz="4000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</a:t>
            </a:r>
            <a:r>
              <a:rPr b="1" sz="4000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</a:t>
            </a:r>
            <a:r>
              <a:rPr b="1" sz="4000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</a:t>
            </a:r>
            <a:r>
              <a:rPr b="1" sz="4000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</a:t>
            </a:r>
            <a:r>
              <a:rPr b="1" sz="4000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</a:t>
            </a:r>
            <a:r>
              <a:rPr b="1" sz="4000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</a:t>
            </a:r>
            <a:r>
              <a:rPr b="1" sz="4000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</a:t>
            </a:r>
            <a:r>
              <a:rPr b="1" sz="4000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</a:t>
            </a:r>
            <a:r>
              <a:rPr b="1" sz="4000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</a:t>
            </a:r>
            <a:r>
              <a:rPr b="1" sz="4000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</a:t>
            </a:r>
            <a:r>
              <a:rPr b="1" sz="4000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</a:t>
            </a:r>
            <a:r>
              <a:rPr b="1" sz="4000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</a:t>
            </a:r>
            <a:r>
              <a:rPr b="1" sz="4000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</a:t>
            </a:r>
            <a:r>
              <a:rPr b="1" sz="4000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</a:t>
            </a:r>
            <a:r>
              <a:rPr b="1" sz="4000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</a:t>
            </a:r>
            <a:endParaRPr sz="3600"/>
          </a:p>
          <a:p>
            <a:pPr algn="ctr">
              <a:lnSpc>
                <a:spcPts val="6599"/>
              </a:lnSpc>
            </a:pPr>
            <a:r>
              <a:rPr b="1" sz="4000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4</a:t>
            </a:r>
            <a:r>
              <a:rPr b="1" sz="4000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.</a:t>
            </a:r>
            <a:r>
              <a:rPr b="1" sz="4000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</a:t>
            </a:r>
            <a:r>
              <a:rPr b="1" sz="4000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.</a:t>
            </a:r>
            <a:r>
              <a:rPr b="1" sz="4000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</a:t>
            </a:r>
            <a:r>
              <a:rPr b="1" sz="4000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</a:t>
            </a:r>
            <a:r>
              <a:rPr b="1" sz="4000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</a:t>
            </a:r>
            <a:r>
              <a:rPr b="1" sz="4000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</a:t>
            </a:r>
            <a:r>
              <a:rPr b="1" sz="4000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</a:t>
            </a:r>
            <a:r>
              <a:rPr b="1" sz="4000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</a:t>
            </a:r>
            <a:r>
              <a:rPr b="1" sz="4000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</a:t>
            </a:r>
            <a:r>
              <a:rPr b="1" sz="4000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</a:t>
            </a:r>
            <a:endParaRPr sz="4400"/>
          </a:p>
        </p:txBody>
      </p:sp>
      <p:sp>
        <p:nvSpPr>
          <p:cNvPr id="1048586" name="TextBox 4"/>
          <p:cNvSpPr txBox="1"/>
          <p:nvPr/>
        </p:nvSpPr>
        <p:spPr>
          <a:xfrm rot="0">
            <a:off x="5465231" y="2528232"/>
            <a:ext cx="5940876" cy="1255013"/>
          </a:xfrm>
          <a:prstGeom prst="rect"/>
        </p:spPr>
        <p:txBody>
          <a:bodyPr anchor="t" bIns="0" lIns="0" rIns="0" rtlCol="0" tIns="0">
            <a:spAutoFit/>
          </a:bodyPr>
          <a:p>
            <a:pPr algn="ctr">
              <a:lnSpc>
                <a:spcPts val="4941"/>
              </a:lnSpc>
              <a:spcBef>
                <a:spcPct val="0"/>
              </a:spcBef>
            </a:pPr>
            <a:r>
              <a:rPr b="1" sz="4118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Team Leader :</a:t>
            </a:r>
            <a:r>
              <a:rPr b="1" sz="4118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</a:t>
            </a:r>
            <a:r>
              <a:rPr b="1" sz="4118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.</a:t>
            </a:r>
            <a:r>
              <a:rPr b="1" sz="4118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</a:t>
            </a:r>
            <a:r>
              <a:rPr b="1" sz="4118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</a:t>
            </a:r>
            <a:r>
              <a:rPr b="1" sz="4118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</a:t>
            </a:r>
            <a:r>
              <a:rPr b="1" sz="4118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</a:t>
            </a:r>
            <a:r>
              <a:rPr b="1" sz="4118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</a:t>
            </a:r>
            <a:r>
              <a:rPr b="1" sz="4118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</a:t>
            </a:r>
            <a:r>
              <a:rPr b="1" sz="4118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</a:t>
            </a:r>
            <a:r>
              <a:rPr b="1" sz="4118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</a:t>
            </a:r>
            <a:r>
              <a:rPr b="1" sz="4118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</a:t>
            </a:r>
            <a:r>
              <a:rPr b="1" sz="4118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</a:t>
            </a:r>
            <a:r>
              <a:rPr b="1" sz="4118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y</a:t>
            </a:r>
            <a:r>
              <a:rPr b="1" sz="4118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</a:t>
            </a:r>
            <a:r>
              <a:rPr b="1" sz="4118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</a:t>
            </a:r>
            <a:r>
              <a:rPr b="1" sz="4118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</a:t>
            </a:r>
            <a:r>
              <a:rPr b="1" sz="4118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</a:t>
            </a:r>
            <a:r>
              <a:rPr b="1" sz="4118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</a:t>
            </a:r>
            <a:r>
              <a:rPr b="1" sz="4118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</a:t>
            </a:r>
            <a:r>
              <a:rPr b="1" sz="4118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</a:t>
            </a:r>
            <a:endParaRPr altLang="en-US" 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</p:bgPr>
    </p:bg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7" name="TextBox 2"/>
          <p:cNvSpPr txBox="1"/>
          <p:nvPr/>
        </p:nvSpPr>
        <p:spPr>
          <a:xfrm rot="0">
            <a:off x="1189577" y="2030492"/>
            <a:ext cx="9837630" cy="1898777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7926"/>
              </a:lnSpc>
            </a:pPr>
            <a:r>
              <a:rPr b="1" sz="6605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LegalEase</a:t>
            </a:r>
          </a:p>
          <a:p>
            <a:pPr algn="l">
              <a:lnSpc>
                <a:spcPts val="4143"/>
              </a:lnSpc>
            </a:pPr>
            <a:r>
              <a:rPr sz="3452" lang="en-US">
                <a:solidFill>
                  <a:srgbClr val="366FC4"/>
                </a:solidFill>
                <a:latin typeface="Calibri (MS)"/>
                <a:ea typeface="Calibri (MS)"/>
                <a:cs typeface="Calibri (MS)"/>
                <a:sym typeface="Calibri (MS)"/>
              </a:rPr>
              <a:t>AI-Powered Legal Document Generator</a:t>
            </a:r>
          </a:p>
          <a:p>
            <a:pPr algn="l">
              <a:lnSpc>
                <a:spcPts val="2882"/>
              </a:lnSpc>
            </a:pPr>
            <a:r>
              <a:rPr sz="2401" lang="en-US">
                <a:solidFill>
                  <a:srgbClr val="525C6C"/>
                </a:solidFill>
                <a:latin typeface="Calibri (MS)"/>
                <a:ea typeface="Calibri (MS)"/>
                <a:cs typeface="Calibri (MS)"/>
                <a:sym typeface="Calibri (MS)"/>
              </a:rPr>
              <a:t>Smart • Simple • Faster</a:t>
            </a:r>
          </a:p>
        </p:txBody>
      </p:sp>
      <p:grpSp>
        <p:nvGrpSpPr>
          <p:cNvPr id="27" name="Group 3"/>
          <p:cNvGrpSpPr/>
          <p:nvPr/>
        </p:nvGrpSpPr>
        <p:grpSpPr>
          <a:xfrm rot="0">
            <a:off x="12346905" y="2051856"/>
            <a:ext cx="3445983" cy="1386973"/>
            <a:chOff x="0" y="0"/>
            <a:chExt cx="4594644" cy="1849298"/>
          </a:xfrm>
        </p:grpSpPr>
        <p:sp>
          <p:nvSpPr>
            <p:cNvPr id="1048588" name="Freeform 4"/>
            <p:cNvSpPr/>
            <p:nvPr/>
          </p:nvSpPr>
          <p:spPr>
            <a:xfrm rot="0" flipH="0" flipV="0">
              <a:off x="0" y="0"/>
              <a:ext cx="4594606" cy="1849247"/>
            </a:xfrm>
            <a:custGeom>
              <a:avLst/>
              <a:ahLst/>
              <a:rect l="l" t="t" r="r" b="b"/>
              <a:pathLst>
                <a:path w="4594606" h="1849247">
                  <a:moveTo>
                    <a:pt x="0" y="308229"/>
                  </a:moveTo>
                  <a:cubicBezTo>
                    <a:pt x="0" y="138049"/>
                    <a:pt x="138049" y="0"/>
                    <a:pt x="308229" y="0"/>
                  </a:cubicBezTo>
                  <a:lnTo>
                    <a:pt x="4286377" y="0"/>
                  </a:lnTo>
                  <a:cubicBezTo>
                    <a:pt x="4456557" y="0"/>
                    <a:pt x="4594606" y="138049"/>
                    <a:pt x="4594606" y="308229"/>
                  </a:cubicBezTo>
                  <a:lnTo>
                    <a:pt x="4594606" y="1541018"/>
                  </a:lnTo>
                  <a:cubicBezTo>
                    <a:pt x="4594606" y="1711198"/>
                    <a:pt x="4456557" y="1849247"/>
                    <a:pt x="4286377" y="1849247"/>
                  </a:cubicBezTo>
                  <a:lnTo>
                    <a:pt x="308229" y="1849247"/>
                  </a:lnTo>
                  <a:cubicBezTo>
                    <a:pt x="138049" y="1849247"/>
                    <a:pt x="0" y="1711325"/>
                    <a:pt x="0" y="1541018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1048589" name="TextBox 5"/>
          <p:cNvSpPr txBox="1"/>
          <p:nvPr/>
        </p:nvSpPr>
        <p:spPr>
          <a:xfrm rot="0">
            <a:off x="12555303" y="2176443"/>
            <a:ext cx="3029169" cy="366014"/>
          </a:xfrm>
          <a:prstGeom prst="rect"/>
        </p:spPr>
        <p:txBody>
          <a:bodyPr anchor="t" bIns="0" lIns="0" rIns="0" rtlCol="0" tIns="0">
            <a:spAutoFit/>
          </a:bodyPr>
          <a:p>
            <a:pPr algn="ctr">
              <a:lnSpc>
                <a:spcPts val="2882"/>
              </a:lnSpc>
            </a:pPr>
            <a:r>
              <a:rPr b="1" sz="2401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USER</a:t>
            </a:r>
          </a:p>
        </p:txBody>
      </p:sp>
      <p:grpSp>
        <p:nvGrpSpPr>
          <p:cNvPr id="28" name="Group 6"/>
          <p:cNvGrpSpPr/>
          <p:nvPr/>
        </p:nvGrpSpPr>
        <p:grpSpPr>
          <a:xfrm rot="0">
            <a:off x="12346905" y="4248131"/>
            <a:ext cx="3445983" cy="1386973"/>
            <a:chOff x="0" y="0"/>
            <a:chExt cx="4594644" cy="1849298"/>
          </a:xfrm>
        </p:grpSpPr>
        <p:sp>
          <p:nvSpPr>
            <p:cNvPr id="1048590" name="Freeform 7"/>
            <p:cNvSpPr/>
            <p:nvPr/>
          </p:nvSpPr>
          <p:spPr>
            <a:xfrm rot="0" flipH="0" flipV="0">
              <a:off x="0" y="0"/>
              <a:ext cx="4594606" cy="1849247"/>
            </a:xfrm>
            <a:custGeom>
              <a:avLst/>
              <a:ahLst/>
              <a:rect l="l" t="t" r="r" b="b"/>
              <a:pathLst>
                <a:path w="4594606" h="1849247">
                  <a:moveTo>
                    <a:pt x="0" y="308229"/>
                  </a:moveTo>
                  <a:cubicBezTo>
                    <a:pt x="0" y="138049"/>
                    <a:pt x="138049" y="0"/>
                    <a:pt x="308229" y="0"/>
                  </a:cubicBezTo>
                  <a:lnTo>
                    <a:pt x="4286377" y="0"/>
                  </a:lnTo>
                  <a:cubicBezTo>
                    <a:pt x="4456557" y="0"/>
                    <a:pt x="4594606" y="138049"/>
                    <a:pt x="4594606" y="308229"/>
                  </a:cubicBezTo>
                  <a:lnTo>
                    <a:pt x="4594606" y="1541018"/>
                  </a:lnTo>
                  <a:cubicBezTo>
                    <a:pt x="4594606" y="1711198"/>
                    <a:pt x="4456557" y="1849247"/>
                    <a:pt x="4286377" y="1849247"/>
                  </a:cubicBezTo>
                  <a:lnTo>
                    <a:pt x="308229" y="1849247"/>
                  </a:lnTo>
                  <a:cubicBezTo>
                    <a:pt x="138049" y="1849247"/>
                    <a:pt x="0" y="1711325"/>
                    <a:pt x="0" y="1541018"/>
                  </a:cubicBezTo>
                  <a:close/>
                </a:path>
              </a:pathLst>
            </a:custGeom>
            <a:solidFill>
              <a:srgbClr val="E8F6F4"/>
            </a:solidFill>
            <a:ln w="14299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1048591" name="TextBox 8"/>
          <p:cNvSpPr txBox="1"/>
          <p:nvPr/>
        </p:nvSpPr>
        <p:spPr>
          <a:xfrm rot="0">
            <a:off x="12555303" y="4372718"/>
            <a:ext cx="3029169" cy="366015"/>
          </a:xfrm>
          <a:prstGeom prst="rect"/>
        </p:spPr>
        <p:txBody>
          <a:bodyPr anchor="t" bIns="0" lIns="0" rIns="0" rtlCol="0" tIns="0">
            <a:spAutoFit/>
          </a:bodyPr>
          <a:p>
            <a:pPr algn="ctr">
              <a:lnSpc>
                <a:spcPts val="2882"/>
              </a:lnSpc>
            </a:pPr>
            <a:r>
              <a:rPr b="1" sz="2401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AI ENGINE</a:t>
            </a:r>
          </a:p>
        </p:txBody>
      </p:sp>
      <p:grpSp>
        <p:nvGrpSpPr>
          <p:cNvPr id="29" name="Group 9"/>
          <p:cNvGrpSpPr/>
          <p:nvPr/>
        </p:nvGrpSpPr>
        <p:grpSpPr>
          <a:xfrm rot="0">
            <a:off x="12346905" y="6444415"/>
            <a:ext cx="3445983" cy="1386973"/>
            <a:chOff x="0" y="0"/>
            <a:chExt cx="4594644" cy="1849298"/>
          </a:xfrm>
        </p:grpSpPr>
        <p:sp>
          <p:nvSpPr>
            <p:cNvPr id="1048592" name="Freeform 10"/>
            <p:cNvSpPr/>
            <p:nvPr/>
          </p:nvSpPr>
          <p:spPr>
            <a:xfrm rot="0" flipH="0" flipV="0">
              <a:off x="0" y="0"/>
              <a:ext cx="4594606" cy="1849247"/>
            </a:xfrm>
            <a:custGeom>
              <a:avLst/>
              <a:ahLst/>
              <a:rect l="l" t="t" r="r" b="b"/>
              <a:pathLst>
                <a:path w="4594606" h="1849247">
                  <a:moveTo>
                    <a:pt x="0" y="308229"/>
                  </a:moveTo>
                  <a:cubicBezTo>
                    <a:pt x="0" y="138049"/>
                    <a:pt x="138049" y="0"/>
                    <a:pt x="308229" y="0"/>
                  </a:cubicBezTo>
                  <a:lnTo>
                    <a:pt x="4286377" y="0"/>
                  </a:lnTo>
                  <a:cubicBezTo>
                    <a:pt x="4456557" y="0"/>
                    <a:pt x="4594606" y="138049"/>
                    <a:pt x="4594606" y="308229"/>
                  </a:cubicBezTo>
                  <a:lnTo>
                    <a:pt x="4594606" y="1541018"/>
                  </a:lnTo>
                  <a:cubicBezTo>
                    <a:pt x="4594606" y="1711198"/>
                    <a:pt x="4456557" y="1849247"/>
                    <a:pt x="4286377" y="1849247"/>
                  </a:cubicBezTo>
                  <a:lnTo>
                    <a:pt x="308229" y="1849247"/>
                  </a:lnTo>
                  <a:cubicBezTo>
                    <a:pt x="138049" y="1849247"/>
                    <a:pt x="0" y="1711325"/>
                    <a:pt x="0" y="1541018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1048593" name="TextBox 11"/>
          <p:cNvSpPr txBox="1"/>
          <p:nvPr/>
        </p:nvSpPr>
        <p:spPr>
          <a:xfrm rot="0">
            <a:off x="12555303" y="6549942"/>
            <a:ext cx="3029169" cy="686309"/>
          </a:xfrm>
          <a:prstGeom prst="rect"/>
        </p:spPr>
        <p:txBody>
          <a:bodyPr anchor="t" bIns="0" lIns="0" rIns="0" rtlCol="0" tIns="0">
            <a:spAutoFit/>
          </a:bodyPr>
          <a:p>
            <a:pPr algn="ctr">
              <a:lnSpc>
                <a:spcPts val="2702"/>
              </a:lnSpc>
            </a:pPr>
            <a:r>
              <a:rPr b="1" sz="2251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LEGAL</a:t>
            </a:r>
          </a:p>
          <a:p>
            <a:pPr algn="ctr">
              <a:lnSpc>
                <a:spcPts val="2702"/>
              </a:lnSpc>
            </a:pPr>
            <a:r>
              <a:rPr b="1" sz="2251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DOCUMENT</a:t>
            </a:r>
          </a:p>
        </p:txBody>
      </p:sp>
      <p:sp>
        <p:nvSpPr>
          <p:cNvPr id="1048594" name="AutoShape 12"/>
          <p:cNvSpPr/>
          <p:nvPr/>
        </p:nvSpPr>
        <p:spPr>
          <a:xfrm rot="5247960">
            <a:off x="13638600" y="3833955"/>
            <a:ext cx="862574" cy="0"/>
          </a:xfrm>
          <a:prstGeom prst="line"/>
          <a:ln w="19050" cap="rnd">
            <a:solidFill>
              <a:srgbClr val="366FC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48595" name="AutoShape 13"/>
          <p:cNvSpPr/>
          <p:nvPr/>
        </p:nvSpPr>
        <p:spPr>
          <a:xfrm rot="5247960">
            <a:off x="13638600" y="6030230"/>
            <a:ext cx="862574" cy="0"/>
          </a:xfrm>
          <a:prstGeom prst="line"/>
          <a:ln w="19050" cap="rnd">
            <a:solidFill>
              <a:srgbClr val="366FC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48596" name="TextBox 14"/>
          <p:cNvSpPr txBox="1"/>
          <p:nvPr/>
        </p:nvSpPr>
        <p:spPr>
          <a:xfrm rot="0">
            <a:off x="16426244" y="9694488"/>
            <a:ext cx="640728" cy="211674"/>
          </a:xfrm>
          <a:prstGeom prst="rect"/>
        </p:spPr>
        <p:txBody>
          <a:bodyPr anchor="t" bIns="0" lIns="0" rIns="0" rtlCol="0" tIns="0">
            <a:spAutoFit/>
          </a:bodyPr>
          <a:p>
            <a:pPr algn="r">
              <a:lnSpc>
                <a:spcPts val="1621"/>
              </a:lnSpc>
            </a:pPr>
            <a:r>
              <a:rPr sz="1351" lang="en-US">
                <a:solidFill>
                  <a:srgbClr val="525C6C"/>
                </a:solidFill>
                <a:latin typeface="Calibri (MS)"/>
                <a:ea typeface="Calibri (MS)"/>
                <a:cs typeface="Calibri (MS)"/>
                <a:sym typeface="Calibri (MS)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</p:bgPr>
    </p:bg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7" name="TextBox 2"/>
          <p:cNvSpPr txBox="1"/>
          <p:nvPr/>
        </p:nvSpPr>
        <p:spPr>
          <a:xfrm rot="0">
            <a:off x="846411" y="344348"/>
            <a:ext cx="12033904" cy="640461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5043"/>
              </a:lnSpc>
            </a:pPr>
            <a:r>
              <a:rPr b="1" sz="4203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1. Introduction</a:t>
            </a:r>
          </a:p>
        </p:txBody>
      </p:sp>
      <p:sp>
        <p:nvSpPr>
          <p:cNvPr id="1048598" name="TextBox 3"/>
          <p:cNvSpPr txBox="1"/>
          <p:nvPr/>
        </p:nvSpPr>
        <p:spPr>
          <a:xfrm rot="0">
            <a:off x="887587" y="1188120"/>
            <a:ext cx="13269306" cy="274448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2161"/>
              </a:lnSpc>
            </a:pPr>
            <a:r>
              <a:rPr sz="1801" lang="en-US">
                <a:solidFill>
                  <a:srgbClr val="525C6C"/>
                </a:solidFill>
                <a:latin typeface="Calibri (MS)"/>
                <a:ea typeface="Calibri (MS)"/>
                <a:cs typeface="Calibri (MS)"/>
                <a:sym typeface="Calibri (MS)"/>
              </a:rPr>
              <a:t>Why LegalEase?</a:t>
            </a:r>
          </a:p>
        </p:txBody>
      </p:sp>
      <p:grpSp>
        <p:nvGrpSpPr>
          <p:cNvPr id="31" name="Group 4"/>
          <p:cNvGrpSpPr/>
          <p:nvPr/>
        </p:nvGrpSpPr>
        <p:grpSpPr>
          <a:xfrm rot="0">
            <a:off x="953719" y="2120494"/>
            <a:ext cx="7701267" cy="1867405"/>
            <a:chOff x="0" y="0"/>
            <a:chExt cx="10268356" cy="2489873"/>
          </a:xfrm>
        </p:grpSpPr>
        <p:sp>
          <p:nvSpPr>
            <p:cNvPr id="1048599" name="Freeform 5"/>
            <p:cNvSpPr/>
            <p:nvPr/>
          </p:nvSpPr>
          <p:spPr>
            <a:xfrm rot="0" flipH="0" flipV="0">
              <a:off x="0" y="0"/>
              <a:ext cx="10268458" cy="2489962"/>
            </a:xfrm>
            <a:custGeom>
              <a:avLst/>
              <a:ahLst/>
              <a:rect l="l" t="t" r="r" b="b"/>
              <a:pathLst>
                <a:path w="10268458" h="2489962">
                  <a:moveTo>
                    <a:pt x="0" y="415036"/>
                  </a:moveTo>
                  <a:cubicBezTo>
                    <a:pt x="0" y="185801"/>
                    <a:pt x="185801" y="0"/>
                    <a:pt x="415036" y="0"/>
                  </a:cubicBezTo>
                  <a:lnTo>
                    <a:pt x="9853422" y="0"/>
                  </a:lnTo>
                  <a:cubicBezTo>
                    <a:pt x="10082657" y="0"/>
                    <a:pt x="10268458" y="185801"/>
                    <a:pt x="10268458" y="415036"/>
                  </a:cubicBezTo>
                  <a:lnTo>
                    <a:pt x="10268458" y="2074926"/>
                  </a:lnTo>
                  <a:cubicBezTo>
                    <a:pt x="10268458" y="2304161"/>
                    <a:pt x="10082657" y="2489962"/>
                    <a:pt x="9853422" y="2489962"/>
                  </a:cubicBezTo>
                  <a:lnTo>
                    <a:pt x="415036" y="2489962"/>
                  </a:lnTo>
                  <a:cubicBezTo>
                    <a:pt x="185801" y="2489835"/>
                    <a:pt x="0" y="2304034"/>
                    <a:pt x="0" y="2074926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id="32" name="Group 6"/>
          <p:cNvGrpSpPr/>
          <p:nvPr/>
        </p:nvGrpSpPr>
        <p:grpSpPr>
          <a:xfrm rot="0">
            <a:off x="960872" y="2127647"/>
            <a:ext cx="109814" cy="1853108"/>
            <a:chOff x="0" y="0"/>
            <a:chExt cx="146418" cy="2470810"/>
          </a:xfrm>
        </p:grpSpPr>
        <p:sp>
          <p:nvSpPr>
            <p:cNvPr id="1048600" name="Freeform 7"/>
            <p:cNvSpPr/>
            <p:nvPr/>
          </p:nvSpPr>
          <p:spPr>
            <a:xfrm rot="0" flipH="0" flipV="0">
              <a:off x="0" y="0"/>
              <a:ext cx="146431" cy="2470785"/>
            </a:xfrm>
            <a:custGeom>
              <a:avLst/>
              <a:ahLst/>
              <a:rect l="l" t="t" r="r" b="b"/>
              <a:pathLst>
                <a:path w="146431" h="2470785">
                  <a:moveTo>
                    <a:pt x="0" y="0"/>
                  </a:moveTo>
                  <a:lnTo>
                    <a:pt x="146431" y="0"/>
                  </a:lnTo>
                  <a:lnTo>
                    <a:pt x="146431" y="2470785"/>
                  </a:lnTo>
                  <a:lnTo>
                    <a:pt x="0" y="2470785"/>
                  </a:lnTo>
                  <a:close/>
                </a:path>
              </a:pathLst>
            </a:custGeom>
            <a:solidFill>
              <a:srgbClr val="366FC4"/>
            </a:solidFill>
          </p:spPr>
        </p:sp>
      </p:grpSp>
      <p:sp>
        <p:nvSpPr>
          <p:cNvPr id="1048601" name="TextBox 8"/>
          <p:cNvSpPr txBox="1"/>
          <p:nvPr/>
        </p:nvSpPr>
        <p:spPr>
          <a:xfrm rot="0">
            <a:off x="1395479" y="2335844"/>
            <a:ext cx="6886384" cy="343154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2702"/>
              </a:lnSpc>
            </a:pPr>
            <a:r>
              <a:rPr b="1" sz="2251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Legal documents</a:t>
            </a:r>
          </a:p>
        </p:txBody>
      </p:sp>
      <p:sp>
        <p:nvSpPr>
          <p:cNvPr id="1048602" name="TextBox 9"/>
          <p:cNvSpPr txBox="1"/>
          <p:nvPr/>
        </p:nvSpPr>
        <p:spPr>
          <a:xfrm rot="0">
            <a:off x="1395479" y="2986316"/>
            <a:ext cx="6886384" cy="526035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2071"/>
              </a:lnSpc>
            </a:pPr>
            <a:r>
              <a:rPr sz="1726" lang="en-US">
                <a:solidFill>
                  <a:srgbClr val="525C6C"/>
                </a:solidFill>
                <a:latin typeface="Calibri (MS)"/>
                <a:ea typeface="Calibri (MS)"/>
                <a:cs typeface="Calibri (MS)"/>
                <a:sym typeface="Calibri (MS)"/>
              </a:rPr>
              <a:t>Contracts, agreements, notices and other documents are important in everyday and business activities.</a:t>
            </a:r>
          </a:p>
        </p:txBody>
      </p:sp>
      <p:grpSp>
        <p:nvGrpSpPr>
          <p:cNvPr id="33" name="Group 10"/>
          <p:cNvGrpSpPr/>
          <p:nvPr/>
        </p:nvGrpSpPr>
        <p:grpSpPr>
          <a:xfrm rot="0">
            <a:off x="953719" y="4316768"/>
            <a:ext cx="7701267" cy="1867405"/>
            <a:chOff x="0" y="0"/>
            <a:chExt cx="10268356" cy="2489873"/>
          </a:xfrm>
        </p:grpSpPr>
        <p:sp>
          <p:nvSpPr>
            <p:cNvPr id="1048603" name="Freeform 11"/>
            <p:cNvSpPr/>
            <p:nvPr/>
          </p:nvSpPr>
          <p:spPr>
            <a:xfrm rot="0" flipH="0" flipV="0">
              <a:off x="0" y="0"/>
              <a:ext cx="10268458" cy="2489962"/>
            </a:xfrm>
            <a:custGeom>
              <a:avLst/>
              <a:ahLst/>
              <a:rect l="l" t="t" r="r" b="b"/>
              <a:pathLst>
                <a:path w="10268458" h="2489962">
                  <a:moveTo>
                    <a:pt x="0" y="415036"/>
                  </a:moveTo>
                  <a:cubicBezTo>
                    <a:pt x="0" y="185801"/>
                    <a:pt x="185801" y="0"/>
                    <a:pt x="415036" y="0"/>
                  </a:cubicBezTo>
                  <a:lnTo>
                    <a:pt x="9853422" y="0"/>
                  </a:lnTo>
                  <a:cubicBezTo>
                    <a:pt x="10082657" y="0"/>
                    <a:pt x="10268458" y="185801"/>
                    <a:pt x="10268458" y="415036"/>
                  </a:cubicBezTo>
                  <a:lnTo>
                    <a:pt x="10268458" y="2074926"/>
                  </a:lnTo>
                  <a:cubicBezTo>
                    <a:pt x="10268458" y="2304161"/>
                    <a:pt x="10082657" y="2489962"/>
                    <a:pt x="9853422" y="2489962"/>
                  </a:cubicBezTo>
                  <a:lnTo>
                    <a:pt x="415036" y="2489962"/>
                  </a:lnTo>
                  <a:cubicBezTo>
                    <a:pt x="185801" y="2489835"/>
                    <a:pt x="0" y="2304034"/>
                    <a:pt x="0" y="2074926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id="34" name="Group 12"/>
          <p:cNvGrpSpPr/>
          <p:nvPr/>
        </p:nvGrpSpPr>
        <p:grpSpPr>
          <a:xfrm rot="0">
            <a:off x="960872" y="4323921"/>
            <a:ext cx="109814" cy="1853108"/>
            <a:chOff x="0" y="0"/>
            <a:chExt cx="146418" cy="2470810"/>
          </a:xfrm>
        </p:grpSpPr>
        <p:sp>
          <p:nvSpPr>
            <p:cNvPr id="1048604" name="Freeform 13"/>
            <p:cNvSpPr/>
            <p:nvPr/>
          </p:nvSpPr>
          <p:spPr>
            <a:xfrm rot="0" flipH="0" flipV="0">
              <a:off x="0" y="0"/>
              <a:ext cx="146431" cy="2470785"/>
            </a:xfrm>
            <a:custGeom>
              <a:avLst/>
              <a:ahLst/>
              <a:rect l="l" t="t" r="r" b="b"/>
              <a:pathLst>
                <a:path w="146431" h="2470785">
                  <a:moveTo>
                    <a:pt x="0" y="0"/>
                  </a:moveTo>
                  <a:lnTo>
                    <a:pt x="146431" y="0"/>
                  </a:lnTo>
                  <a:lnTo>
                    <a:pt x="146431" y="2470785"/>
                  </a:lnTo>
                  <a:lnTo>
                    <a:pt x="0" y="2470785"/>
                  </a:lnTo>
                  <a:close/>
                </a:path>
              </a:pathLst>
            </a:custGeom>
            <a:solidFill>
              <a:srgbClr val="366FC4"/>
            </a:solidFill>
          </p:spPr>
        </p:sp>
      </p:grpSp>
      <p:sp>
        <p:nvSpPr>
          <p:cNvPr id="1048605" name="TextBox 14"/>
          <p:cNvSpPr txBox="1"/>
          <p:nvPr/>
        </p:nvSpPr>
        <p:spPr>
          <a:xfrm rot="0">
            <a:off x="1395479" y="4532119"/>
            <a:ext cx="6886384" cy="343154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2702"/>
              </a:lnSpc>
            </a:pPr>
            <a:r>
              <a:rPr b="1" sz="2251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The challenge</a:t>
            </a:r>
          </a:p>
        </p:txBody>
      </p:sp>
      <p:sp>
        <p:nvSpPr>
          <p:cNvPr id="1048606" name="TextBox 15"/>
          <p:cNvSpPr txBox="1"/>
          <p:nvPr/>
        </p:nvSpPr>
        <p:spPr>
          <a:xfrm rot="0">
            <a:off x="1395479" y="5182591"/>
            <a:ext cx="6886384" cy="526034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2071"/>
              </a:lnSpc>
            </a:pPr>
            <a:r>
              <a:rPr sz="1726" lang="en-US">
                <a:solidFill>
                  <a:srgbClr val="525C6C"/>
                </a:solidFill>
                <a:latin typeface="Calibri (MS)"/>
                <a:ea typeface="Calibri (MS)"/>
                <a:cs typeface="Calibri (MS)"/>
                <a:sym typeface="Calibri (MS)"/>
              </a:rPr>
              <a:t>Manual drafting can take time, and legal language may be difficult for non-experts.</a:t>
            </a:r>
          </a:p>
        </p:txBody>
      </p:sp>
      <p:grpSp>
        <p:nvGrpSpPr>
          <p:cNvPr id="35" name="Group 16"/>
          <p:cNvGrpSpPr/>
          <p:nvPr/>
        </p:nvGrpSpPr>
        <p:grpSpPr>
          <a:xfrm rot="0">
            <a:off x="9601562" y="2120494"/>
            <a:ext cx="7701267" cy="1867405"/>
            <a:chOff x="0" y="0"/>
            <a:chExt cx="10268356" cy="2489873"/>
          </a:xfrm>
        </p:grpSpPr>
        <p:sp>
          <p:nvSpPr>
            <p:cNvPr id="1048607" name="Freeform 17"/>
            <p:cNvSpPr/>
            <p:nvPr/>
          </p:nvSpPr>
          <p:spPr>
            <a:xfrm rot="0" flipH="0" flipV="0">
              <a:off x="0" y="0"/>
              <a:ext cx="10268458" cy="2489962"/>
            </a:xfrm>
            <a:custGeom>
              <a:avLst/>
              <a:ahLst/>
              <a:rect l="l" t="t" r="r" b="b"/>
              <a:pathLst>
                <a:path w="10268458" h="2489962">
                  <a:moveTo>
                    <a:pt x="0" y="415036"/>
                  </a:moveTo>
                  <a:cubicBezTo>
                    <a:pt x="0" y="185801"/>
                    <a:pt x="185801" y="0"/>
                    <a:pt x="415036" y="0"/>
                  </a:cubicBezTo>
                  <a:lnTo>
                    <a:pt x="9853422" y="0"/>
                  </a:lnTo>
                  <a:cubicBezTo>
                    <a:pt x="10082657" y="0"/>
                    <a:pt x="10268458" y="185801"/>
                    <a:pt x="10268458" y="415036"/>
                  </a:cubicBezTo>
                  <a:lnTo>
                    <a:pt x="10268458" y="2074926"/>
                  </a:lnTo>
                  <a:cubicBezTo>
                    <a:pt x="10268458" y="2304161"/>
                    <a:pt x="10082657" y="2489962"/>
                    <a:pt x="9853422" y="2489962"/>
                  </a:cubicBezTo>
                  <a:lnTo>
                    <a:pt x="415036" y="2489962"/>
                  </a:lnTo>
                  <a:cubicBezTo>
                    <a:pt x="185801" y="2489835"/>
                    <a:pt x="0" y="2304034"/>
                    <a:pt x="0" y="2074926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id="36" name="Group 18"/>
          <p:cNvGrpSpPr/>
          <p:nvPr/>
        </p:nvGrpSpPr>
        <p:grpSpPr>
          <a:xfrm rot="0">
            <a:off x="9608706" y="2127647"/>
            <a:ext cx="109814" cy="1853108"/>
            <a:chOff x="0" y="0"/>
            <a:chExt cx="146418" cy="2470810"/>
          </a:xfrm>
        </p:grpSpPr>
        <p:sp>
          <p:nvSpPr>
            <p:cNvPr id="1048608" name="Freeform 19"/>
            <p:cNvSpPr/>
            <p:nvPr/>
          </p:nvSpPr>
          <p:spPr>
            <a:xfrm rot="0" flipH="0" flipV="0">
              <a:off x="0" y="0"/>
              <a:ext cx="146431" cy="2470785"/>
            </a:xfrm>
            <a:custGeom>
              <a:avLst/>
              <a:ahLst/>
              <a:rect l="l" t="t" r="r" b="b"/>
              <a:pathLst>
                <a:path w="146431" h="2470785">
                  <a:moveTo>
                    <a:pt x="0" y="0"/>
                  </a:moveTo>
                  <a:lnTo>
                    <a:pt x="146431" y="0"/>
                  </a:lnTo>
                  <a:lnTo>
                    <a:pt x="146431" y="2470785"/>
                  </a:lnTo>
                  <a:lnTo>
                    <a:pt x="0" y="2470785"/>
                  </a:lnTo>
                  <a:close/>
                </a:path>
              </a:pathLst>
            </a:custGeom>
            <a:solidFill>
              <a:srgbClr val="366FC4"/>
            </a:solidFill>
          </p:spPr>
        </p:sp>
      </p:grpSp>
      <p:sp>
        <p:nvSpPr>
          <p:cNvPr id="1048609" name="TextBox 20"/>
          <p:cNvSpPr txBox="1"/>
          <p:nvPr/>
        </p:nvSpPr>
        <p:spPr>
          <a:xfrm rot="0">
            <a:off x="10043312" y="2335844"/>
            <a:ext cx="6886384" cy="343154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2702"/>
              </a:lnSpc>
            </a:pPr>
            <a:r>
              <a:rPr b="1" sz="2251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The idea</a:t>
            </a:r>
          </a:p>
        </p:txBody>
      </p:sp>
      <p:sp>
        <p:nvSpPr>
          <p:cNvPr id="1048610" name="TextBox 21"/>
          <p:cNvSpPr txBox="1"/>
          <p:nvPr/>
        </p:nvSpPr>
        <p:spPr>
          <a:xfrm rot="0">
            <a:off x="10043312" y="2986316"/>
            <a:ext cx="6886384" cy="526035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2071"/>
              </a:lnSpc>
            </a:pPr>
            <a:r>
              <a:rPr sz="1726" lang="en-US">
                <a:solidFill>
                  <a:srgbClr val="525C6C"/>
                </a:solidFill>
                <a:latin typeface="Calibri (MS)"/>
                <a:ea typeface="Calibri (MS)"/>
                <a:cs typeface="Calibri (MS)"/>
                <a:sym typeface="Calibri (MS)"/>
              </a:rPr>
              <a:t>LegalEase uses AI to convert user-provided information into a structured document draft.</a:t>
            </a:r>
          </a:p>
        </p:txBody>
      </p:sp>
      <p:grpSp>
        <p:nvGrpSpPr>
          <p:cNvPr id="37" name="Group 22"/>
          <p:cNvGrpSpPr/>
          <p:nvPr/>
        </p:nvGrpSpPr>
        <p:grpSpPr>
          <a:xfrm rot="0">
            <a:off x="9601562" y="4316768"/>
            <a:ext cx="7701267" cy="1867405"/>
            <a:chOff x="0" y="0"/>
            <a:chExt cx="10268356" cy="2489873"/>
          </a:xfrm>
        </p:grpSpPr>
        <p:sp>
          <p:nvSpPr>
            <p:cNvPr id="1048611" name="Freeform 23"/>
            <p:cNvSpPr/>
            <p:nvPr/>
          </p:nvSpPr>
          <p:spPr>
            <a:xfrm rot="0" flipH="0" flipV="0">
              <a:off x="0" y="0"/>
              <a:ext cx="10268458" cy="2489962"/>
            </a:xfrm>
            <a:custGeom>
              <a:avLst/>
              <a:ahLst/>
              <a:rect l="l" t="t" r="r" b="b"/>
              <a:pathLst>
                <a:path w="10268458" h="2489962">
                  <a:moveTo>
                    <a:pt x="0" y="415036"/>
                  </a:moveTo>
                  <a:cubicBezTo>
                    <a:pt x="0" y="185801"/>
                    <a:pt x="185801" y="0"/>
                    <a:pt x="415036" y="0"/>
                  </a:cubicBezTo>
                  <a:lnTo>
                    <a:pt x="9853422" y="0"/>
                  </a:lnTo>
                  <a:cubicBezTo>
                    <a:pt x="10082657" y="0"/>
                    <a:pt x="10268458" y="185801"/>
                    <a:pt x="10268458" y="415036"/>
                  </a:cubicBezTo>
                  <a:lnTo>
                    <a:pt x="10268458" y="2074926"/>
                  </a:lnTo>
                  <a:cubicBezTo>
                    <a:pt x="10268458" y="2304161"/>
                    <a:pt x="10082657" y="2489962"/>
                    <a:pt x="9853422" y="2489962"/>
                  </a:cubicBezTo>
                  <a:lnTo>
                    <a:pt x="415036" y="2489962"/>
                  </a:lnTo>
                  <a:cubicBezTo>
                    <a:pt x="185801" y="2489835"/>
                    <a:pt x="0" y="2304034"/>
                    <a:pt x="0" y="2074926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id="38" name="Group 24"/>
          <p:cNvGrpSpPr/>
          <p:nvPr/>
        </p:nvGrpSpPr>
        <p:grpSpPr>
          <a:xfrm rot="0">
            <a:off x="9608706" y="4323921"/>
            <a:ext cx="109814" cy="1853108"/>
            <a:chOff x="0" y="0"/>
            <a:chExt cx="146418" cy="2470810"/>
          </a:xfrm>
        </p:grpSpPr>
        <p:sp>
          <p:nvSpPr>
            <p:cNvPr id="1048612" name="Freeform 25"/>
            <p:cNvSpPr/>
            <p:nvPr/>
          </p:nvSpPr>
          <p:spPr>
            <a:xfrm rot="0" flipH="0" flipV="0">
              <a:off x="0" y="0"/>
              <a:ext cx="146431" cy="2470785"/>
            </a:xfrm>
            <a:custGeom>
              <a:avLst/>
              <a:ahLst/>
              <a:rect l="l" t="t" r="r" b="b"/>
              <a:pathLst>
                <a:path w="146431" h="2470785">
                  <a:moveTo>
                    <a:pt x="0" y="0"/>
                  </a:moveTo>
                  <a:lnTo>
                    <a:pt x="146431" y="0"/>
                  </a:lnTo>
                  <a:lnTo>
                    <a:pt x="146431" y="2470785"/>
                  </a:lnTo>
                  <a:lnTo>
                    <a:pt x="0" y="2470785"/>
                  </a:lnTo>
                  <a:close/>
                </a:path>
              </a:pathLst>
            </a:custGeom>
            <a:solidFill>
              <a:srgbClr val="366FC4"/>
            </a:solidFill>
          </p:spPr>
        </p:sp>
      </p:grpSp>
      <p:sp>
        <p:nvSpPr>
          <p:cNvPr id="1048613" name="TextBox 26"/>
          <p:cNvSpPr txBox="1"/>
          <p:nvPr/>
        </p:nvSpPr>
        <p:spPr>
          <a:xfrm rot="0">
            <a:off x="10043312" y="4532119"/>
            <a:ext cx="6886384" cy="343154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2702"/>
              </a:lnSpc>
            </a:pPr>
            <a:r>
              <a:rPr b="1" sz="2251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Goal</a:t>
            </a:r>
          </a:p>
        </p:txBody>
      </p:sp>
      <p:sp>
        <p:nvSpPr>
          <p:cNvPr id="1048614" name="TextBox 27"/>
          <p:cNvSpPr txBox="1"/>
          <p:nvPr/>
        </p:nvSpPr>
        <p:spPr>
          <a:xfrm rot="0">
            <a:off x="10043312" y="5182591"/>
            <a:ext cx="6886384" cy="263017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2071"/>
              </a:lnSpc>
            </a:pPr>
            <a:r>
              <a:rPr sz="1726" lang="en-US">
                <a:solidFill>
                  <a:srgbClr val="525C6C"/>
                </a:solidFill>
                <a:latin typeface="Calibri (MS)"/>
                <a:ea typeface="Calibri (MS)"/>
                <a:cs typeface="Calibri (MS)"/>
                <a:sym typeface="Calibri (MS)"/>
              </a:rPr>
              <a:t>Make basic document drafting faster, clearer and easier to access.</a:t>
            </a:r>
          </a:p>
        </p:txBody>
      </p:sp>
      <p:grpSp>
        <p:nvGrpSpPr>
          <p:cNvPr id="39" name="Group 28"/>
          <p:cNvGrpSpPr/>
          <p:nvPr/>
        </p:nvGrpSpPr>
        <p:grpSpPr>
          <a:xfrm rot="0">
            <a:off x="5758072" y="7336650"/>
            <a:ext cx="6603130" cy="1112434"/>
            <a:chOff x="0" y="0"/>
            <a:chExt cx="8804173" cy="1483246"/>
          </a:xfrm>
        </p:grpSpPr>
        <p:sp>
          <p:nvSpPr>
            <p:cNvPr id="1048615" name="Freeform 29"/>
            <p:cNvSpPr/>
            <p:nvPr/>
          </p:nvSpPr>
          <p:spPr>
            <a:xfrm rot="0" flipH="0" flipV="0">
              <a:off x="0" y="0"/>
              <a:ext cx="8804275" cy="1483360"/>
            </a:xfrm>
            <a:custGeom>
              <a:avLst/>
              <a:ahLst/>
              <a:rect l="l" t="t" r="r" b="b"/>
              <a:pathLst>
                <a:path w="8804275" h="1483360">
                  <a:moveTo>
                    <a:pt x="0" y="247269"/>
                  </a:moveTo>
                  <a:cubicBezTo>
                    <a:pt x="0" y="110744"/>
                    <a:pt x="110744" y="0"/>
                    <a:pt x="247269" y="0"/>
                  </a:cubicBezTo>
                  <a:lnTo>
                    <a:pt x="8557006" y="0"/>
                  </a:lnTo>
                  <a:cubicBezTo>
                    <a:pt x="8693531" y="0"/>
                    <a:pt x="8804275" y="110744"/>
                    <a:pt x="8804275" y="247269"/>
                  </a:cubicBezTo>
                  <a:lnTo>
                    <a:pt x="8804275" y="1236091"/>
                  </a:lnTo>
                  <a:cubicBezTo>
                    <a:pt x="8804275" y="1372616"/>
                    <a:pt x="8693531" y="1483360"/>
                    <a:pt x="8557006" y="1483360"/>
                  </a:cubicBezTo>
                  <a:lnTo>
                    <a:pt x="247269" y="1483360"/>
                  </a:lnTo>
                  <a:cubicBezTo>
                    <a:pt x="110744" y="1483233"/>
                    <a:pt x="0" y="1372616"/>
                    <a:pt x="0" y="1236091"/>
                  </a:cubicBezTo>
                  <a:close/>
                </a:path>
              </a:pathLst>
            </a:custGeom>
            <a:solidFill>
              <a:srgbClr val="E8F6F4"/>
            </a:solidFill>
            <a:ln w="14299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1048616" name="TextBox 30"/>
          <p:cNvSpPr txBox="1"/>
          <p:nvPr/>
        </p:nvSpPr>
        <p:spPr>
          <a:xfrm rot="0">
            <a:off x="5966479" y="7442178"/>
            <a:ext cx="6186316" cy="343155"/>
          </a:xfrm>
          <a:prstGeom prst="rect"/>
        </p:spPr>
        <p:txBody>
          <a:bodyPr anchor="t" bIns="0" lIns="0" rIns="0" rtlCol="0" tIns="0">
            <a:spAutoFit/>
          </a:bodyPr>
          <a:p>
            <a:pPr algn="ctr">
              <a:lnSpc>
                <a:spcPts val="2702"/>
              </a:lnSpc>
            </a:pPr>
            <a:r>
              <a:rPr b="1" sz="2251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USER INPUT  →  AI  →  DOCUMENT</a:t>
            </a:r>
          </a:p>
        </p:txBody>
      </p:sp>
      <p:sp>
        <p:nvSpPr>
          <p:cNvPr id="1048617" name="TextBox 31"/>
          <p:cNvSpPr txBox="1"/>
          <p:nvPr/>
        </p:nvSpPr>
        <p:spPr>
          <a:xfrm rot="0">
            <a:off x="16426244" y="9694488"/>
            <a:ext cx="640728" cy="211674"/>
          </a:xfrm>
          <a:prstGeom prst="rect"/>
        </p:spPr>
        <p:txBody>
          <a:bodyPr anchor="t" bIns="0" lIns="0" rIns="0" rtlCol="0" tIns="0">
            <a:spAutoFit/>
          </a:bodyPr>
          <a:p>
            <a:pPr algn="r">
              <a:lnSpc>
                <a:spcPts val="1621"/>
              </a:lnSpc>
            </a:pPr>
            <a:r>
              <a:rPr sz="1351" lang="en-US">
                <a:solidFill>
                  <a:srgbClr val="525C6C"/>
                </a:solidFill>
                <a:latin typeface="Calibri (MS)"/>
                <a:ea typeface="Calibri (MS)"/>
                <a:cs typeface="Calibri (MS)"/>
                <a:sym typeface="Calibri (MS)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</p:bgPr>
    </p:bg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8" name="TextBox 2"/>
          <p:cNvSpPr txBox="1"/>
          <p:nvPr/>
        </p:nvSpPr>
        <p:spPr>
          <a:xfrm rot="0">
            <a:off x="846411" y="344348"/>
            <a:ext cx="12033904" cy="640461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5043"/>
              </a:lnSpc>
            </a:pPr>
            <a:r>
              <a:rPr b="1" sz="4203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2. Problem Statement</a:t>
            </a:r>
          </a:p>
        </p:txBody>
      </p:sp>
      <p:sp>
        <p:nvSpPr>
          <p:cNvPr id="1048619" name="TextBox 3"/>
          <p:cNvSpPr txBox="1"/>
          <p:nvPr/>
        </p:nvSpPr>
        <p:spPr>
          <a:xfrm rot="0">
            <a:off x="887587" y="1188120"/>
            <a:ext cx="13269306" cy="274448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2161"/>
              </a:lnSpc>
            </a:pPr>
            <a:r>
              <a:rPr sz="1801" lang="en-US">
                <a:solidFill>
                  <a:srgbClr val="525C6C"/>
                </a:solidFill>
                <a:latin typeface="Calibri (MS)"/>
                <a:ea typeface="Calibri (MS)"/>
                <a:cs typeface="Calibri (MS)"/>
                <a:sym typeface="Calibri (MS)"/>
              </a:rPr>
              <a:t>Limitations of traditional legal document preparation</a:t>
            </a:r>
          </a:p>
        </p:txBody>
      </p:sp>
      <p:grpSp>
        <p:nvGrpSpPr>
          <p:cNvPr id="41" name="Group 4"/>
          <p:cNvGrpSpPr/>
          <p:nvPr/>
        </p:nvGrpSpPr>
        <p:grpSpPr>
          <a:xfrm rot="0">
            <a:off x="953719" y="2051856"/>
            <a:ext cx="7838532" cy="2279209"/>
            <a:chOff x="0" y="0"/>
            <a:chExt cx="10451376" cy="3038945"/>
          </a:xfrm>
        </p:grpSpPr>
        <p:sp>
          <p:nvSpPr>
            <p:cNvPr id="1048620" name="Freeform 5"/>
            <p:cNvSpPr/>
            <p:nvPr/>
          </p:nvSpPr>
          <p:spPr>
            <a:xfrm rot="0" flipH="0" flipV="0">
              <a:off x="0" y="0"/>
              <a:ext cx="10451338" cy="3038856"/>
            </a:xfrm>
            <a:custGeom>
              <a:avLst/>
              <a:ahLst/>
              <a:rect l="l" t="t" r="r" b="b"/>
              <a:pathLst>
                <a:path w="10451338" h="3038856">
                  <a:moveTo>
                    <a:pt x="0" y="506476"/>
                  </a:moveTo>
                  <a:cubicBezTo>
                    <a:pt x="0" y="226822"/>
                    <a:pt x="226822" y="0"/>
                    <a:pt x="506476" y="0"/>
                  </a:cubicBezTo>
                  <a:lnTo>
                    <a:pt x="9944862" y="0"/>
                  </a:lnTo>
                  <a:cubicBezTo>
                    <a:pt x="10224643" y="0"/>
                    <a:pt x="10451338" y="226822"/>
                    <a:pt x="10451338" y="506476"/>
                  </a:cubicBezTo>
                  <a:lnTo>
                    <a:pt x="10451338" y="2532380"/>
                  </a:lnTo>
                  <a:cubicBezTo>
                    <a:pt x="10451338" y="2812161"/>
                    <a:pt x="10224516" y="3038856"/>
                    <a:pt x="9944862" y="3038856"/>
                  </a:cubicBezTo>
                  <a:lnTo>
                    <a:pt x="506476" y="3038856"/>
                  </a:lnTo>
                  <a:cubicBezTo>
                    <a:pt x="226822" y="3038983"/>
                    <a:pt x="0" y="2812161"/>
                    <a:pt x="0" y="2532380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id="42" name="Group 6"/>
          <p:cNvGrpSpPr/>
          <p:nvPr/>
        </p:nvGrpSpPr>
        <p:grpSpPr>
          <a:xfrm rot="0">
            <a:off x="960872" y="2059010"/>
            <a:ext cx="109814" cy="2264912"/>
            <a:chOff x="0" y="0"/>
            <a:chExt cx="146418" cy="3019882"/>
          </a:xfrm>
        </p:grpSpPr>
        <p:sp>
          <p:nvSpPr>
            <p:cNvPr id="1048621" name="Freeform 7"/>
            <p:cNvSpPr/>
            <p:nvPr/>
          </p:nvSpPr>
          <p:spPr>
            <a:xfrm rot="0" flipH="0" flipV="0">
              <a:off x="0" y="0"/>
              <a:ext cx="146431" cy="3019933"/>
            </a:xfrm>
            <a:custGeom>
              <a:avLst/>
              <a:ahLst/>
              <a:rect l="l" t="t" r="r" b="b"/>
              <a:pathLst>
                <a:path w="146431" h="3019933">
                  <a:moveTo>
                    <a:pt x="0" y="0"/>
                  </a:moveTo>
                  <a:lnTo>
                    <a:pt x="146431" y="0"/>
                  </a:lnTo>
                  <a:lnTo>
                    <a:pt x="146431" y="3019933"/>
                  </a:lnTo>
                  <a:lnTo>
                    <a:pt x="0" y="3019933"/>
                  </a:lnTo>
                  <a:close/>
                </a:path>
              </a:pathLst>
            </a:custGeom>
            <a:solidFill>
              <a:srgbClr val="366FC4"/>
            </a:solidFill>
          </p:spPr>
        </p:sp>
      </p:grpSp>
      <p:sp>
        <p:nvSpPr>
          <p:cNvPr id="1048622" name="TextBox 8"/>
          <p:cNvSpPr txBox="1"/>
          <p:nvPr/>
        </p:nvSpPr>
        <p:spPr>
          <a:xfrm rot="0">
            <a:off x="1395479" y="2267207"/>
            <a:ext cx="7023649" cy="343154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2702"/>
              </a:lnSpc>
            </a:pPr>
            <a:r>
              <a:rPr b="1" sz="2251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TIME</a:t>
            </a:r>
          </a:p>
        </p:txBody>
      </p:sp>
      <p:sp>
        <p:nvSpPr>
          <p:cNvPr id="1048623" name="TextBox 9"/>
          <p:cNvSpPr txBox="1"/>
          <p:nvPr/>
        </p:nvSpPr>
        <p:spPr>
          <a:xfrm rot="0">
            <a:off x="1395479" y="2917688"/>
            <a:ext cx="7023649" cy="263017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2071"/>
              </a:lnSpc>
            </a:pPr>
            <a:r>
              <a:rPr sz="1726" lang="en-US">
                <a:solidFill>
                  <a:srgbClr val="525C6C"/>
                </a:solidFill>
                <a:latin typeface="Calibri (MS)"/>
                <a:ea typeface="Calibri (MS)"/>
                <a:cs typeface="Calibri (MS)"/>
                <a:sym typeface="Calibri (MS)"/>
              </a:rPr>
              <a:t>Manual drafting is repetitive.</a:t>
            </a:r>
          </a:p>
        </p:txBody>
      </p:sp>
      <p:grpSp>
        <p:nvGrpSpPr>
          <p:cNvPr id="43" name="Group 10"/>
          <p:cNvGrpSpPr/>
          <p:nvPr/>
        </p:nvGrpSpPr>
        <p:grpSpPr>
          <a:xfrm rot="0">
            <a:off x="9532925" y="2051856"/>
            <a:ext cx="7838532" cy="2279209"/>
            <a:chOff x="0" y="0"/>
            <a:chExt cx="10451376" cy="3038945"/>
          </a:xfrm>
        </p:grpSpPr>
        <p:sp>
          <p:nvSpPr>
            <p:cNvPr id="1048624" name="Freeform 11"/>
            <p:cNvSpPr/>
            <p:nvPr/>
          </p:nvSpPr>
          <p:spPr>
            <a:xfrm rot="0" flipH="0" flipV="0">
              <a:off x="0" y="0"/>
              <a:ext cx="10451338" cy="3038856"/>
            </a:xfrm>
            <a:custGeom>
              <a:avLst/>
              <a:ahLst/>
              <a:rect l="l" t="t" r="r" b="b"/>
              <a:pathLst>
                <a:path w="10451338" h="3038856">
                  <a:moveTo>
                    <a:pt x="0" y="506476"/>
                  </a:moveTo>
                  <a:cubicBezTo>
                    <a:pt x="0" y="226822"/>
                    <a:pt x="226822" y="0"/>
                    <a:pt x="506476" y="0"/>
                  </a:cubicBezTo>
                  <a:lnTo>
                    <a:pt x="9944862" y="0"/>
                  </a:lnTo>
                  <a:cubicBezTo>
                    <a:pt x="10224643" y="0"/>
                    <a:pt x="10451338" y="226822"/>
                    <a:pt x="10451338" y="506476"/>
                  </a:cubicBezTo>
                  <a:lnTo>
                    <a:pt x="10451338" y="2532380"/>
                  </a:lnTo>
                  <a:cubicBezTo>
                    <a:pt x="10451338" y="2812161"/>
                    <a:pt x="10224516" y="3038856"/>
                    <a:pt x="9944862" y="3038856"/>
                  </a:cubicBezTo>
                  <a:lnTo>
                    <a:pt x="506476" y="3038856"/>
                  </a:lnTo>
                  <a:cubicBezTo>
                    <a:pt x="226822" y="3038983"/>
                    <a:pt x="0" y="2812161"/>
                    <a:pt x="0" y="2532380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id="44" name="Group 12"/>
          <p:cNvGrpSpPr/>
          <p:nvPr/>
        </p:nvGrpSpPr>
        <p:grpSpPr>
          <a:xfrm rot="0">
            <a:off x="9540069" y="2059010"/>
            <a:ext cx="109814" cy="2264912"/>
            <a:chOff x="0" y="0"/>
            <a:chExt cx="146418" cy="3019882"/>
          </a:xfrm>
        </p:grpSpPr>
        <p:sp>
          <p:nvSpPr>
            <p:cNvPr id="1048625" name="Freeform 13"/>
            <p:cNvSpPr/>
            <p:nvPr/>
          </p:nvSpPr>
          <p:spPr>
            <a:xfrm rot="0" flipH="0" flipV="0">
              <a:off x="0" y="0"/>
              <a:ext cx="146431" cy="3019933"/>
            </a:xfrm>
            <a:custGeom>
              <a:avLst/>
              <a:ahLst/>
              <a:rect l="l" t="t" r="r" b="b"/>
              <a:pathLst>
                <a:path w="146431" h="3019933">
                  <a:moveTo>
                    <a:pt x="0" y="0"/>
                  </a:moveTo>
                  <a:lnTo>
                    <a:pt x="146431" y="0"/>
                  </a:lnTo>
                  <a:lnTo>
                    <a:pt x="146431" y="3019933"/>
                  </a:lnTo>
                  <a:lnTo>
                    <a:pt x="0" y="3019933"/>
                  </a:lnTo>
                  <a:close/>
                </a:path>
              </a:pathLst>
            </a:custGeom>
            <a:solidFill>
              <a:srgbClr val="269D91"/>
            </a:solidFill>
          </p:spPr>
        </p:sp>
      </p:grpSp>
      <p:sp>
        <p:nvSpPr>
          <p:cNvPr id="1048626" name="TextBox 14"/>
          <p:cNvSpPr txBox="1"/>
          <p:nvPr/>
        </p:nvSpPr>
        <p:spPr>
          <a:xfrm rot="0">
            <a:off x="9974685" y="2267207"/>
            <a:ext cx="7023649" cy="343154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2702"/>
              </a:lnSpc>
            </a:pPr>
            <a:r>
              <a:rPr b="1" sz="2251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COST</a:t>
            </a:r>
          </a:p>
        </p:txBody>
      </p:sp>
      <p:sp>
        <p:nvSpPr>
          <p:cNvPr id="1048627" name="TextBox 15"/>
          <p:cNvSpPr txBox="1"/>
          <p:nvPr/>
        </p:nvSpPr>
        <p:spPr>
          <a:xfrm rot="0">
            <a:off x="9974685" y="2917688"/>
            <a:ext cx="7023649" cy="263017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2071"/>
              </a:lnSpc>
            </a:pPr>
            <a:r>
              <a:rPr sz="1726" lang="en-US">
                <a:solidFill>
                  <a:srgbClr val="525C6C"/>
                </a:solidFill>
                <a:latin typeface="Calibri (MS)"/>
                <a:ea typeface="Calibri (MS)"/>
                <a:cs typeface="Calibri (MS)"/>
                <a:sym typeface="Calibri (MS)"/>
              </a:rPr>
              <a:t>Professional drafting may be costly.</a:t>
            </a:r>
          </a:p>
        </p:txBody>
      </p:sp>
      <p:grpSp>
        <p:nvGrpSpPr>
          <p:cNvPr id="45" name="Group 16"/>
          <p:cNvGrpSpPr/>
          <p:nvPr/>
        </p:nvGrpSpPr>
        <p:grpSpPr>
          <a:xfrm rot="0">
            <a:off x="953719" y="5003102"/>
            <a:ext cx="7838532" cy="2279209"/>
            <a:chOff x="0" y="0"/>
            <a:chExt cx="10451376" cy="3038945"/>
          </a:xfrm>
        </p:grpSpPr>
        <p:sp>
          <p:nvSpPr>
            <p:cNvPr id="1048628" name="Freeform 17"/>
            <p:cNvSpPr/>
            <p:nvPr/>
          </p:nvSpPr>
          <p:spPr>
            <a:xfrm rot="0" flipH="0" flipV="0">
              <a:off x="0" y="0"/>
              <a:ext cx="10451338" cy="3038856"/>
            </a:xfrm>
            <a:custGeom>
              <a:avLst/>
              <a:ahLst/>
              <a:rect l="l" t="t" r="r" b="b"/>
              <a:pathLst>
                <a:path w="10451338" h="3038856">
                  <a:moveTo>
                    <a:pt x="0" y="506476"/>
                  </a:moveTo>
                  <a:cubicBezTo>
                    <a:pt x="0" y="226822"/>
                    <a:pt x="226822" y="0"/>
                    <a:pt x="506476" y="0"/>
                  </a:cubicBezTo>
                  <a:lnTo>
                    <a:pt x="9944862" y="0"/>
                  </a:lnTo>
                  <a:cubicBezTo>
                    <a:pt x="10224643" y="0"/>
                    <a:pt x="10451338" y="226822"/>
                    <a:pt x="10451338" y="506476"/>
                  </a:cubicBezTo>
                  <a:lnTo>
                    <a:pt x="10451338" y="2532380"/>
                  </a:lnTo>
                  <a:cubicBezTo>
                    <a:pt x="10451338" y="2812161"/>
                    <a:pt x="10224516" y="3038856"/>
                    <a:pt x="9944862" y="3038856"/>
                  </a:cubicBezTo>
                  <a:lnTo>
                    <a:pt x="506476" y="3038856"/>
                  </a:lnTo>
                  <a:cubicBezTo>
                    <a:pt x="226822" y="3038983"/>
                    <a:pt x="0" y="2812161"/>
                    <a:pt x="0" y="2532380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id="46" name="Group 18"/>
          <p:cNvGrpSpPr/>
          <p:nvPr/>
        </p:nvGrpSpPr>
        <p:grpSpPr>
          <a:xfrm rot="0">
            <a:off x="960872" y="5010255"/>
            <a:ext cx="109814" cy="2264912"/>
            <a:chOff x="0" y="0"/>
            <a:chExt cx="146418" cy="3019882"/>
          </a:xfrm>
        </p:grpSpPr>
        <p:sp>
          <p:nvSpPr>
            <p:cNvPr id="1048629" name="Freeform 19"/>
            <p:cNvSpPr/>
            <p:nvPr/>
          </p:nvSpPr>
          <p:spPr>
            <a:xfrm rot="0" flipH="0" flipV="0">
              <a:off x="0" y="0"/>
              <a:ext cx="146431" cy="3019933"/>
            </a:xfrm>
            <a:custGeom>
              <a:avLst/>
              <a:ahLst/>
              <a:rect l="l" t="t" r="r" b="b"/>
              <a:pathLst>
                <a:path w="146431" h="3019933">
                  <a:moveTo>
                    <a:pt x="0" y="0"/>
                  </a:moveTo>
                  <a:lnTo>
                    <a:pt x="146431" y="0"/>
                  </a:lnTo>
                  <a:lnTo>
                    <a:pt x="146431" y="3019933"/>
                  </a:lnTo>
                  <a:lnTo>
                    <a:pt x="0" y="3019933"/>
                  </a:lnTo>
                  <a:close/>
                </a:path>
              </a:pathLst>
            </a:custGeom>
            <a:solidFill>
              <a:srgbClr val="162D4E"/>
            </a:solidFill>
          </p:spPr>
        </p:sp>
      </p:grpSp>
      <p:sp>
        <p:nvSpPr>
          <p:cNvPr id="1048630" name="TextBox 20"/>
          <p:cNvSpPr txBox="1"/>
          <p:nvPr/>
        </p:nvSpPr>
        <p:spPr>
          <a:xfrm rot="0">
            <a:off x="1395479" y="5218452"/>
            <a:ext cx="7023649" cy="343154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2702"/>
              </a:lnSpc>
            </a:pPr>
            <a:r>
              <a:rPr b="1" sz="2251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COMPLEXITY</a:t>
            </a:r>
          </a:p>
        </p:txBody>
      </p:sp>
      <p:sp>
        <p:nvSpPr>
          <p:cNvPr id="1048631" name="TextBox 21"/>
          <p:cNvSpPr txBox="1"/>
          <p:nvPr/>
        </p:nvSpPr>
        <p:spPr>
          <a:xfrm rot="0">
            <a:off x="1395479" y="5868934"/>
            <a:ext cx="7023649" cy="263018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2071"/>
              </a:lnSpc>
            </a:pPr>
            <a:r>
              <a:rPr sz="1726" lang="en-US">
                <a:solidFill>
                  <a:srgbClr val="525C6C"/>
                </a:solidFill>
                <a:latin typeface="Calibri (MS)"/>
                <a:ea typeface="Calibri (MS)"/>
                <a:cs typeface="Calibri (MS)"/>
                <a:sym typeface="Calibri (MS)"/>
              </a:rPr>
              <a:t>Legal terminology can be difficult.</a:t>
            </a:r>
          </a:p>
        </p:txBody>
      </p:sp>
      <p:grpSp>
        <p:nvGrpSpPr>
          <p:cNvPr id="47" name="Group 22"/>
          <p:cNvGrpSpPr/>
          <p:nvPr/>
        </p:nvGrpSpPr>
        <p:grpSpPr>
          <a:xfrm rot="0">
            <a:off x="9532925" y="5003102"/>
            <a:ext cx="7838532" cy="2279209"/>
            <a:chOff x="0" y="0"/>
            <a:chExt cx="10451376" cy="3038945"/>
          </a:xfrm>
        </p:grpSpPr>
        <p:sp>
          <p:nvSpPr>
            <p:cNvPr id="1048632" name="Freeform 23"/>
            <p:cNvSpPr/>
            <p:nvPr/>
          </p:nvSpPr>
          <p:spPr>
            <a:xfrm rot="0" flipH="0" flipV="0">
              <a:off x="0" y="0"/>
              <a:ext cx="10451338" cy="3038856"/>
            </a:xfrm>
            <a:custGeom>
              <a:avLst/>
              <a:ahLst/>
              <a:rect l="l" t="t" r="r" b="b"/>
              <a:pathLst>
                <a:path w="10451338" h="3038856">
                  <a:moveTo>
                    <a:pt x="0" y="506476"/>
                  </a:moveTo>
                  <a:cubicBezTo>
                    <a:pt x="0" y="226822"/>
                    <a:pt x="226822" y="0"/>
                    <a:pt x="506476" y="0"/>
                  </a:cubicBezTo>
                  <a:lnTo>
                    <a:pt x="9944862" y="0"/>
                  </a:lnTo>
                  <a:cubicBezTo>
                    <a:pt x="10224643" y="0"/>
                    <a:pt x="10451338" y="226822"/>
                    <a:pt x="10451338" y="506476"/>
                  </a:cubicBezTo>
                  <a:lnTo>
                    <a:pt x="10451338" y="2532380"/>
                  </a:lnTo>
                  <a:cubicBezTo>
                    <a:pt x="10451338" y="2812161"/>
                    <a:pt x="10224516" y="3038856"/>
                    <a:pt x="9944862" y="3038856"/>
                  </a:cubicBezTo>
                  <a:lnTo>
                    <a:pt x="506476" y="3038856"/>
                  </a:lnTo>
                  <a:cubicBezTo>
                    <a:pt x="226822" y="3038983"/>
                    <a:pt x="0" y="2812161"/>
                    <a:pt x="0" y="2532380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id="48" name="Group 24"/>
          <p:cNvGrpSpPr/>
          <p:nvPr/>
        </p:nvGrpSpPr>
        <p:grpSpPr>
          <a:xfrm rot="0">
            <a:off x="9540069" y="5010255"/>
            <a:ext cx="109814" cy="2264912"/>
            <a:chOff x="0" y="0"/>
            <a:chExt cx="146418" cy="3019882"/>
          </a:xfrm>
        </p:grpSpPr>
        <p:sp>
          <p:nvSpPr>
            <p:cNvPr id="1048633" name="Freeform 25"/>
            <p:cNvSpPr/>
            <p:nvPr/>
          </p:nvSpPr>
          <p:spPr>
            <a:xfrm rot="0" flipH="0" flipV="0">
              <a:off x="0" y="0"/>
              <a:ext cx="146431" cy="3019933"/>
            </a:xfrm>
            <a:custGeom>
              <a:avLst/>
              <a:ahLst/>
              <a:rect l="l" t="t" r="r" b="b"/>
              <a:pathLst>
                <a:path w="146431" h="3019933">
                  <a:moveTo>
                    <a:pt x="0" y="0"/>
                  </a:moveTo>
                  <a:lnTo>
                    <a:pt x="146431" y="0"/>
                  </a:lnTo>
                  <a:lnTo>
                    <a:pt x="146431" y="3019933"/>
                  </a:lnTo>
                  <a:lnTo>
                    <a:pt x="0" y="3019933"/>
                  </a:lnTo>
                  <a:close/>
                </a:path>
              </a:pathLst>
            </a:custGeom>
            <a:solidFill>
              <a:srgbClr val="366FC4"/>
            </a:solidFill>
          </p:spPr>
        </p:sp>
      </p:grpSp>
      <p:sp>
        <p:nvSpPr>
          <p:cNvPr id="1048634" name="TextBox 26"/>
          <p:cNvSpPr txBox="1"/>
          <p:nvPr/>
        </p:nvSpPr>
        <p:spPr>
          <a:xfrm rot="0">
            <a:off x="9974685" y="5218452"/>
            <a:ext cx="7023649" cy="343154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2702"/>
              </a:lnSpc>
            </a:pPr>
            <a:r>
              <a:rPr b="1" sz="2251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ERRORS</a:t>
            </a:r>
          </a:p>
        </p:txBody>
      </p:sp>
      <p:sp>
        <p:nvSpPr>
          <p:cNvPr id="1048635" name="TextBox 27"/>
          <p:cNvSpPr txBox="1"/>
          <p:nvPr/>
        </p:nvSpPr>
        <p:spPr>
          <a:xfrm rot="0">
            <a:off x="9974685" y="5868934"/>
            <a:ext cx="7023649" cy="263018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2071"/>
              </a:lnSpc>
            </a:pPr>
            <a:r>
              <a:rPr sz="1726" lang="en-US">
                <a:solidFill>
                  <a:srgbClr val="525C6C"/>
                </a:solidFill>
                <a:latin typeface="Calibri (MS)"/>
                <a:ea typeface="Calibri (MS)"/>
                <a:cs typeface="Calibri (MS)"/>
                <a:sym typeface="Calibri (MS)"/>
              </a:rPr>
              <a:t>Missing details or formatting mistakes may occur.</a:t>
            </a:r>
          </a:p>
        </p:txBody>
      </p:sp>
      <p:grpSp>
        <p:nvGrpSpPr>
          <p:cNvPr id="49" name="Group 28"/>
          <p:cNvGrpSpPr/>
          <p:nvPr/>
        </p:nvGrpSpPr>
        <p:grpSpPr>
          <a:xfrm rot="0">
            <a:off x="4659935" y="8022984"/>
            <a:ext cx="8936669" cy="975170"/>
            <a:chOff x="0" y="0"/>
            <a:chExt cx="11915559" cy="1300226"/>
          </a:xfrm>
        </p:grpSpPr>
        <p:sp>
          <p:nvSpPr>
            <p:cNvPr id="1048636" name="Freeform 29"/>
            <p:cNvSpPr/>
            <p:nvPr/>
          </p:nvSpPr>
          <p:spPr>
            <a:xfrm rot="0" flipH="0" flipV="0">
              <a:off x="0" y="0"/>
              <a:ext cx="11915521" cy="1300226"/>
            </a:xfrm>
            <a:custGeom>
              <a:avLst/>
              <a:ahLst/>
              <a:rect l="l" t="t" r="r" b="b"/>
              <a:pathLst>
                <a:path w="11915521" h="1300226">
                  <a:moveTo>
                    <a:pt x="0" y="216662"/>
                  </a:moveTo>
                  <a:cubicBezTo>
                    <a:pt x="0" y="97028"/>
                    <a:pt x="97028" y="0"/>
                    <a:pt x="216662" y="0"/>
                  </a:cubicBezTo>
                  <a:lnTo>
                    <a:pt x="11698859" y="0"/>
                  </a:lnTo>
                  <a:cubicBezTo>
                    <a:pt x="11818493" y="0"/>
                    <a:pt x="11915521" y="97028"/>
                    <a:pt x="11915521" y="216662"/>
                  </a:cubicBezTo>
                  <a:lnTo>
                    <a:pt x="11915521" y="1083564"/>
                  </a:lnTo>
                  <a:cubicBezTo>
                    <a:pt x="11915521" y="1203198"/>
                    <a:pt x="11818493" y="1300226"/>
                    <a:pt x="11698859" y="1300226"/>
                  </a:cubicBezTo>
                  <a:lnTo>
                    <a:pt x="216662" y="1300226"/>
                  </a:lnTo>
                  <a:cubicBezTo>
                    <a:pt x="97028" y="1300226"/>
                    <a:pt x="0" y="1203198"/>
                    <a:pt x="0" y="1083564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1048637" name="TextBox 30"/>
          <p:cNvSpPr txBox="1"/>
          <p:nvPr/>
        </p:nvSpPr>
        <p:spPr>
          <a:xfrm rot="0">
            <a:off x="4868342" y="8138046"/>
            <a:ext cx="8519865" cy="320167"/>
          </a:xfrm>
          <a:prstGeom prst="rect"/>
        </p:spPr>
        <p:txBody>
          <a:bodyPr anchor="t" bIns="0" lIns="0" rIns="0" rtlCol="0" tIns="0">
            <a:spAutoFit/>
          </a:bodyPr>
          <a:p>
            <a:pPr algn="ctr">
              <a:lnSpc>
                <a:spcPts val="2521"/>
              </a:lnSpc>
            </a:pPr>
            <a:r>
              <a:rPr b="1" sz="2101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NEED: A SIMPLE AI-ASSISTED DRAFTING SYSTEM</a:t>
            </a:r>
          </a:p>
        </p:txBody>
      </p:sp>
      <p:sp>
        <p:nvSpPr>
          <p:cNvPr id="1048638" name="TextBox 31"/>
          <p:cNvSpPr txBox="1"/>
          <p:nvPr/>
        </p:nvSpPr>
        <p:spPr>
          <a:xfrm rot="0">
            <a:off x="16426244" y="9694488"/>
            <a:ext cx="640728" cy="211674"/>
          </a:xfrm>
          <a:prstGeom prst="rect"/>
        </p:spPr>
        <p:txBody>
          <a:bodyPr anchor="t" bIns="0" lIns="0" rIns="0" rtlCol="0" tIns="0">
            <a:spAutoFit/>
          </a:bodyPr>
          <a:p>
            <a:pPr algn="r">
              <a:lnSpc>
                <a:spcPts val="1621"/>
              </a:lnSpc>
            </a:pPr>
            <a:r>
              <a:rPr sz="1351" lang="en-US">
                <a:solidFill>
                  <a:srgbClr val="525C6C"/>
                </a:solidFill>
                <a:latin typeface="Calibri (MS)"/>
                <a:ea typeface="Calibri (MS)"/>
                <a:cs typeface="Calibri (MS)"/>
                <a:sym typeface="Calibri (MS)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</p:bgPr>
    </p:bg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9" name="TextBox 2"/>
          <p:cNvSpPr txBox="1"/>
          <p:nvPr/>
        </p:nvSpPr>
        <p:spPr>
          <a:xfrm rot="0">
            <a:off x="846411" y="344348"/>
            <a:ext cx="12033904" cy="640461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5043"/>
              </a:lnSpc>
            </a:pPr>
            <a:r>
              <a:rPr b="1" sz="4203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3. Proposed Solution</a:t>
            </a:r>
          </a:p>
        </p:txBody>
      </p:sp>
      <p:sp>
        <p:nvSpPr>
          <p:cNvPr id="1048640" name="TextBox 3"/>
          <p:cNvSpPr txBox="1"/>
          <p:nvPr/>
        </p:nvSpPr>
        <p:spPr>
          <a:xfrm rot="0">
            <a:off x="887587" y="1188120"/>
            <a:ext cx="13269306" cy="274448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2161"/>
              </a:lnSpc>
            </a:pPr>
            <a:r>
              <a:rPr sz="1801" lang="en-US">
                <a:solidFill>
                  <a:srgbClr val="525C6C"/>
                </a:solidFill>
                <a:latin typeface="Calibri (MS)"/>
                <a:ea typeface="Calibri (MS)"/>
                <a:cs typeface="Calibri (MS)"/>
                <a:sym typeface="Calibri (MS)"/>
              </a:rPr>
              <a:t>LegalEase architecture</a:t>
            </a:r>
          </a:p>
        </p:txBody>
      </p:sp>
      <p:grpSp>
        <p:nvGrpSpPr>
          <p:cNvPr id="51" name="Group 4"/>
          <p:cNvGrpSpPr/>
          <p:nvPr/>
        </p:nvGrpSpPr>
        <p:grpSpPr>
          <a:xfrm rot="0">
            <a:off x="816454" y="3012729"/>
            <a:ext cx="2896914" cy="1386973"/>
            <a:chOff x="0" y="0"/>
            <a:chExt cx="3862553" cy="1849298"/>
          </a:xfrm>
        </p:grpSpPr>
        <p:sp>
          <p:nvSpPr>
            <p:cNvPr id="1048641" name="Freeform 5"/>
            <p:cNvSpPr/>
            <p:nvPr/>
          </p:nvSpPr>
          <p:spPr>
            <a:xfrm rot="0" flipH="0" flipV="0">
              <a:off x="0" y="0"/>
              <a:ext cx="3862578" cy="1849247"/>
            </a:xfrm>
            <a:custGeom>
              <a:avLst/>
              <a:ahLst/>
              <a:rect l="l" t="t" r="r" b="b"/>
              <a:pathLst>
                <a:path w="3862578" h="1849247">
                  <a:moveTo>
                    <a:pt x="0" y="308229"/>
                  </a:moveTo>
                  <a:cubicBezTo>
                    <a:pt x="0" y="138049"/>
                    <a:pt x="138049" y="0"/>
                    <a:pt x="308229" y="0"/>
                  </a:cubicBezTo>
                  <a:lnTo>
                    <a:pt x="3554349" y="0"/>
                  </a:lnTo>
                  <a:cubicBezTo>
                    <a:pt x="3724529" y="0"/>
                    <a:pt x="3862578" y="138049"/>
                    <a:pt x="3862578" y="308229"/>
                  </a:cubicBezTo>
                  <a:lnTo>
                    <a:pt x="3862578" y="1541018"/>
                  </a:lnTo>
                  <a:cubicBezTo>
                    <a:pt x="3862578" y="1711198"/>
                    <a:pt x="3724529" y="1849247"/>
                    <a:pt x="3554349" y="1849247"/>
                  </a:cubicBezTo>
                  <a:lnTo>
                    <a:pt x="308229" y="1849247"/>
                  </a:lnTo>
                  <a:cubicBezTo>
                    <a:pt x="138049" y="1849247"/>
                    <a:pt x="0" y="1711325"/>
                    <a:pt x="0" y="1541018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1048642" name="TextBox 6"/>
          <p:cNvSpPr txBox="1"/>
          <p:nvPr/>
        </p:nvSpPr>
        <p:spPr>
          <a:xfrm rot="0">
            <a:off x="1024861" y="3137316"/>
            <a:ext cx="2480100" cy="366014"/>
          </a:xfrm>
          <a:prstGeom prst="rect"/>
        </p:spPr>
        <p:txBody>
          <a:bodyPr anchor="t" bIns="0" lIns="0" rIns="0" rtlCol="0" tIns="0">
            <a:spAutoFit/>
          </a:bodyPr>
          <a:p>
            <a:pPr algn="ctr">
              <a:lnSpc>
                <a:spcPts val="2882"/>
              </a:lnSpc>
            </a:pPr>
            <a:r>
              <a:rPr b="1" sz="2401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USER</a:t>
            </a:r>
          </a:p>
        </p:txBody>
      </p:sp>
      <p:grpSp>
        <p:nvGrpSpPr>
          <p:cNvPr id="52" name="Group 7"/>
          <p:cNvGrpSpPr/>
          <p:nvPr/>
        </p:nvGrpSpPr>
        <p:grpSpPr>
          <a:xfrm rot="0">
            <a:off x="4454033" y="3012729"/>
            <a:ext cx="3171444" cy="1386973"/>
            <a:chOff x="0" y="0"/>
            <a:chExt cx="4228592" cy="1849298"/>
          </a:xfrm>
        </p:grpSpPr>
        <p:sp>
          <p:nvSpPr>
            <p:cNvPr id="1048643" name="Freeform 8"/>
            <p:cNvSpPr/>
            <p:nvPr/>
          </p:nvSpPr>
          <p:spPr>
            <a:xfrm rot="0" flipH="0" flipV="0">
              <a:off x="0" y="0"/>
              <a:ext cx="4228592" cy="1849247"/>
            </a:xfrm>
            <a:custGeom>
              <a:avLst/>
              <a:ahLst/>
              <a:rect l="l" t="t" r="r" b="b"/>
              <a:pathLst>
                <a:path w="4228592" h="1849247">
                  <a:moveTo>
                    <a:pt x="0" y="308229"/>
                  </a:moveTo>
                  <a:cubicBezTo>
                    <a:pt x="0" y="138049"/>
                    <a:pt x="138049" y="0"/>
                    <a:pt x="308229" y="0"/>
                  </a:cubicBezTo>
                  <a:lnTo>
                    <a:pt x="3920363" y="0"/>
                  </a:lnTo>
                  <a:cubicBezTo>
                    <a:pt x="4090543" y="0"/>
                    <a:pt x="4228592" y="138049"/>
                    <a:pt x="4228592" y="308229"/>
                  </a:cubicBezTo>
                  <a:lnTo>
                    <a:pt x="4228592" y="1541018"/>
                  </a:lnTo>
                  <a:cubicBezTo>
                    <a:pt x="4228592" y="1711198"/>
                    <a:pt x="4090543" y="1849247"/>
                    <a:pt x="3920363" y="1849247"/>
                  </a:cubicBezTo>
                  <a:lnTo>
                    <a:pt x="308229" y="1849247"/>
                  </a:lnTo>
                  <a:cubicBezTo>
                    <a:pt x="138049" y="1849247"/>
                    <a:pt x="0" y="1711325"/>
                    <a:pt x="0" y="1541018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1048644" name="TextBox 9"/>
          <p:cNvSpPr txBox="1"/>
          <p:nvPr/>
        </p:nvSpPr>
        <p:spPr>
          <a:xfrm rot="0">
            <a:off x="4662440" y="3118266"/>
            <a:ext cx="2754640" cy="343154"/>
          </a:xfrm>
          <a:prstGeom prst="rect"/>
        </p:spPr>
        <p:txBody>
          <a:bodyPr anchor="t" bIns="0" lIns="0" rIns="0" rtlCol="0" tIns="0">
            <a:spAutoFit/>
          </a:bodyPr>
          <a:p>
            <a:pPr algn="ctr">
              <a:lnSpc>
                <a:spcPts val="2702"/>
              </a:lnSpc>
            </a:pPr>
            <a:r>
              <a:rPr b="1" sz="2251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INPUT FORM</a:t>
            </a:r>
          </a:p>
        </p:txBody>
      </p:sp>
      <p:grpSp>
        <p:nvGrpSpPr>
          <p:cNvPr id="53" name="Group 10"/>
          <p:cNvGrpSpPr/>
          <p:nvPr/>
        </p:nvGrpSpPr>
        <p:grpSpPr>
          <a:xfrm rot="0">
            <a:off x="8434788" y="3012729"/>
            <a:ext cx="3171444" cy="1386973"/>
            <a:chOff x="0" y="0"/>
            <a:chExt cx="4228592" cy="1849298"/>
          </a:xfrm>
        </p:grpSpPr>
        <p:sp>
          <p:nvSpPr>
            <p:cNvPr id="1048645" name="Freeform 11"/>
            <p:cNvSpPr/>
            <p:nvPr/>
          </p:nvSpPr>
          <p:spPr>
            <a:xfrm rot="0" flipH="0" flipV="0">
              <a:off x="0" y="0"/>
              <a:ext cx="4228592" cy="1849247"/>
            </a:xfrm>
            <a:custGeom>
              <a:avLst/>
              <a:ahLst/>
              <a:rect l="l" t="t" r="r" b="b"/>
              <a:pathLst>
                <a:path w="4228592" h="1849247">
                  <a:moveTo>
                    <a:pt x="0" y="308229"/>
                  </a:moveTo>
                  <a:cubicBezTo>
                    <a:pt x="0" y="138049"/>
                    <a:pt x="138049" y="0"/>
                    <a:pt x="308229" y="0"/>
                  </a:cubicBezTo>
                  <a:lnTo>
                    <a:pt x="3920363" y="0"/>
                  </a:lnTo>
                  <a:cubicBezTo>
                    <a:pt x="4090543" y="0"/>
                    <a:pt x="4228592" y="138049"/>
                    <a:pt x="4228592" y="308229"/>
                  </a:cubicBezTo>
                  <a:lnTo>
                    <a:pt x="4228592" y="1541018"/>
                  </a:lnTo>
                  <a:cubicBezTo>
                    <a:pt x="4228592" y="1711198"/>
                    <a:pt x="4090543" y="1849247"/>
                    <a:pt x="3920363" y="1849247"/>
                  </a:cubicBezTo>
                  <a:lnTo>
                    <a:pt x="308229" y="1849247"/>
                  </a:lnTo>
                  <a:cubicBezTo>
                    <a:pt x="138049" y="1849247"/>
                    <a:pt x="0" y="1711325"/>
                    <a:pt x="0" y="1541018"/>
                  </a:cubicBezTo>
                  <a:close/>
                </a:path>
              </a:pathLst>
            </a:custGeom>
            <a:solidFill>
              <a:srgbClr val="E8F6F4"/>
            </a:solidFill>
            <a:ln w="14299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1048646" name="TextBox 12"/>
          <p:cNvSpPr txBox="1"/>
          <p:nvPr/>
        </p:nvSpPr>
        <p:spPr>
          <a:xfrm rot="0">
            <a:off x="8643185" y="3137316"/>
            <a:ext cx="2754640" cy="366014"/>
          </a:xfrm>
          <a:prstGeom prst="rect"/>
        </p:spPr>
        <p:txBody>
          <a:bodyPr anchor="t" bIns="0" lIns="0" rIns="0" rtlCol="0" tIns="0">
            <a:spAutoFit/>
          </a:bodyPr>
          <a:p>
            <a:pPr algn="ctr">
              <a:lnSpc>
                <a:spcPts val="2882"/>
              </a:lnSpc>
            </a:pPr>
            <a:r>
              <a:rPr b="1" sz="2401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AI / NLP</a:t>
            </a:r>
          </a:p>
        </p:txBody>
      </p:sp>
      <p:grpSp>
        <p:nvGrpSpPr>
          <p:cNvPr id="54" name="Group 13"/>
          <p:cNvGrpSpPr/>
          <p:nvPr/>
        </p:nvGrpSpPr>
        <p:grpSpPr>
          <a:xfrm rot="0">
            <a:off x="12415533" y="3012729"/>
            <a:ext cx="3857777" cy="1386973"/>
            <a:chOff x="0" y="0"/>
            <a:chExt cx="5143703" cy="1849298"/>
          </a:xfrm>
        </p:grpSpPr>
        <p:sp>
          <p:nvSpPr>
            <p:cNvPr id="1048647" name="Freeform 14"/>
            <p:cNvSpPr/>
            <p:nvPr/>
          </p:nvSpPr>
          <p:spPr>
            <a:xfrm rot="0" flipH="0" flipV="0">
              <a:off x="0" y="0"/>
              <a:ext cx="5143754" cy="1849247"/>
            </a:xfrm>
            <a:custGeom>
              <a:avLst/>
              <a:ahLst/>
              <a:rect l="l" t="t" r="r" b="b"/>
              <a:pathLst>
                <a:path w="5143754" h="1849247">
                  <a:moveTo>
                    <a:pt x="0" y="308229"/>
                  </a:moveTo>
                  <a:cubicBezTo>
                    <a:pt x="0" y="138049"/>
                    <a:pt x="138049" y="0"/>
                    <a:pt x="308229" y="0"/>
                  </a:cubicBezTo>
                  <a:lnTo>
                    <a:pt x="4835525" y="0"/>
                  </a:lnTo>
                  <a:cubicBezTo>
                    <a:pt x="5005705" y="0"/>
                    <a:pt x="5143754" y="138049"/>
                    <a:pt x="5143754" y="308229"/>
                  </a:cubicBezTo>
                  <a:lnTo>
                    <a:pt x="5143754" y="1541018"/>
                  </a:lnTo>
                  <a:cubicBezTo>
                    <a:pt x="5143754" y="1711198"/>
                    <a:pt x="5005705" y="1849247"/>
                    <a:pt x="4835525" y="1849247"/>
                  </a:cubicBezTo>
                  <a:lnTo>
                    <a:pt x="308229" y="1849247"/>
                  </a:lnTo>
                  <a:cubicBezTo>
                    <a:pt x="138049" y="1849247"/>
                    <a:pt x="0" y="1711325"/>
                    <a:pt x="0" y="1541018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1048648" name="TextBox 15"/>
          <p:cNvSpPr txBox="1"/>
          <p:nvPr/>
        </p:nvSpPr>
        <p:spPr>
          <a:xfrm rot="0">
            <a:off x="12623940" y="3118266"/>
            <a:ext cx="3440973" cy="686308"/>
          </a:xfrm>
          <a:prstGeom prst="rect"/>
        </p:spPr>
        <p:txBody>
          <a:bodyPr anchor="t" bIns="0" lIns="0" rIns="0" rtlCol="0" tIns="0">
            <a:spAutoFit/>
          </a:bodyPr>
          <a:p>
            <a:pPr algn="ctr">
              <a:lnSpc>
                <a:spcPts val="2702"/>
              </a:lnSpc>
            </a:pPr>
            <a:r>
              <a:rPr b="1" sz="2251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DOCUMENT</a:t>
            </a:r>
          </a:p>
          <a:p>
            <a:pPr algn="ctr">
              <a:lnSpc>
                <a:spcPts val="2702"/>
              </a:lnSpc>
            </a:pPr>
            <a:r>
              <a:rPr b="1" sz="2251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GENERATOR</a:t>
            </a:r>
          </a:p>
        </p:txBody>
      </p:sp>
      <p:sp>
        <p:nvSpPr>
          <p:cNvPr id="1048649" name="AutoShape 16"/>
          <p:cNvSpPr/>
          <p:nvPr/>
        </p:nvSpPr>
        <p:spPr>
          <a:xfrm rot="165120">
            <a:off x="3686689" y="3696691"/>
            <a:ext cx="794014" cy="0"/>
          </a:xfrm>
          <a:prstGeom prst="line"/>
          <a:ln w="19050" cap="rnd">
            <a:solidFill>
              <a:srgbClr val="366FC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48650" name="AutoShape 17"/>
          <p:cNvSpPr/>
          <p:nvPr/>
        </p:nvSpPr>
        <p:spPr>
          <a:xfrm rot="152040">
            <a:off x="7598845" y="3696691"/>
            <a:ext cx="862574" cy="0"/>
          </a:xfrm>
          <a:prstGeom prst="line"/>
          <a:ln w="19050" cap="rnd">
            <a:solidFill>
              <a:srgbClr val="366FC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48651" name="AutoShape 18"/>
          <p:cNvSpPr/>
          <p:nvPr/>
        </p:nvSpPr>
        <p:spPr>
          <a:xfrm rot="152040">
            <a:off x="11579590" y="3696691"/>
            <a:ext cx="862574" cy="0"/>
          </a:xfrm>
          <a:prstGeom prst="line"/>
          <a:ln w="19050" cap="rnd">
            <a:solidFill>
              <a:srgbClr val="366FC4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55" name="Group 19"/>
          <p:cNvGrpSpPr/>
          <p:nvPr/>
        </p:nvGrpSpPr>
        <p:grpSpPr>
          <a:xfrm rot="0">
            <a:off x="5620807" y="5963974"/>
            <a:ext cx="7152199" cy="1386973"/>
            <a:chOff x="0" y="0"/>
            <a:chExt cx="9536265" cy="1849298"/>
          </a:xfrm>
        </p:grpSpPr>
        <p:sp>
          <p:nvSpPr>
            <p:cNvPr id="1048652" name="Freeform 20"/>
            <p:cNvSpPr/>
            <p:nvPr/>
          </p:nvSpPr>
          <p:spPr>
            <a:xfrm rot="0" flipH="0" flipV="0">
              <a:off x="0" y="0"/>
              <a:ext cx="9536303" cy="1849247"/>
            </a:xfrm>
            <a:custGeom>
              <a:avLst/>
              <a:ahLst/>
              <a:rect l="l" t="t" r="r" b="b"/>
              <a:pathLst>
                <a:path w="9536303" h="1849247">
                  <a:moveTo>
                    <a:pt x="0" y="308229"/>
                  </a:moveTo>
                  <a:cubicBezTo>
                    <a:pt x="0" y="138049"/>
                    <a:pt x="138049" y="0"/>
                    <a:pt x="308229" y="0"/>
                  </a:cubicBezTo>
                  <a:lnTo>
                    <a:pt x="9228074" y="0"/>
                  </a:lnTo>
                  <a:cubicBezTo>
                    <a:pt x="9398254" y="0"/>
                    <a:pt x="9536303" y="138049"/>
                    <a:pt x="9536303" y="308229"/>
                  </a:cubicBezTo>
                  <a:lnTo>
                    <a:pt x="9536303" y="1541018"/>
                  </a:lnTo>
                  <a:cubicBezTo>
                    <a:pt x="9536303" y="1711198"/>
                    <a:pt x="9398254" y="1849247"/>
                    <a:pt x="9228074" y="1849247"/>
                  </a:cubicBezTo>
                  <a:lnTo>
                    <a:pt x="308229" y="1849247"/>
                  </a:lnTo>
                  <a:cubicBezTo>
                    <a:pt x="138049" y="1849247"/>
                    <a:pt x="0" y="1711325"/>
                    <a:pt x="0" y="1541018"/>
                  </a:cubicBezTo>
                  <a:close/>
                </a:path>
              </a:pathLst>
            </a:custGeom>
            <a:solidFill>
              <a:srgbClr val="EEF4FC"/>
            </a:solidFill>
            <a:ln w="14299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1048653" name="TextBox 21"/>
          <p:cNvSpPr txBox="1"/>
          <p:nvPr/>
        </p:nvSpPr>
        <p:spPr>
          <a:xfrm rot="0">
            <a:off x="5829205" y="6069511"/>
            <a:ext cx="6735385" cy="343155"/>
          </a:xfrm>
          <a:prstGeom prst="rect"/>
        </p:spPr>
        <p:txBody>
          <a:bodyPr anchor="t" bIns="0" lIns="0" rIns="0" rtlCol="0" tIns="0">
            <a:spAutoFit/>
          </a:bodyPr>
          <a:p>
            <a:pPr algn="ctr">
              <a:lnSpc>
                <a:spcPts val="2702"/>
              </a:lnSpc>
            </a:pPr>
            <a:r>
              <a:rPr b="1" sz="2251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REVIEW → EDIT → EXPORT</a:t>
            </a:r>
          </a:p>
        </p:txBody>
      </p:sp>
      <p:sp>
        <p:nvSpPr>
          <p:cNvPr id="1048654" name="AutoShape 22"/>
          <p:cNvSpPr/>
          <p:nvPr/>
        </p:nvSpPr>
        <p:spPr>
          <a:xfrm rot="9274620">
            <a:off x="10779966" y="5172313"/>
            <a:ext cx="3765861" cy="0"/>
          </a:xfrm>
          <a:prstGeom prst="line"/>
          <a:ln w="19050" cap="rnd">
            <a:solidFill>
              <a:srgbClr val="366FC4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56" name="Group 23"/>
          <p:cNvGrpSpPr/>
          <p:nvPr/>
        </p:nvGrpSpPr>
        <p:grpSpPr>
          <a:xfrm rot="0">
            <a:off x="1640062" y="7817082"/>
            <a:ext cx="15113698" cy="1386973"/>
            <a:chOff x="0" y="0"/>
            <a:chExt cx="20151598" cy="1849298"/>
          </a:xfrm>
        </p:grpSpPr>
        <p:sp>
          <p:nvSpPr>
            <p:cNvPr id="1048655" name="Freeform 24"/>
            <p:cNvSpPr/>
            <p:nvPr/>
          </p:nvSpPr>
          <p:spPr>
            <a:xfrm rot="0" flipH="0" flipV="0">
              <a:off x="0" y="0"/>
              <a:ext cx="20151598" cy="1849247"/>
            </a:xfrm>
            <a:custGeom>
              <a:avLst/>
              <a:ahLst/>
              <a:rect l="l" t="t" r="r" b="b"/>
              <a:pathLst>
                <a:path w="20151598" h="1849247">
                  <a:moveTo>
                    <a:pt x="0" y="308229"/>
                  </a:moveTo>
                  <a:cubicBezTo>
                    <a:pt x="0" y="138049"/>
                    <a:pt x="138049" y="0"/>
                    <a:pt x="308229" y="0"/>
                  </a:cubicBezTo>
                  <a:lnTo>
                    <a:pt x="19843369" y="0"/>
                  </a:lnTo>
                  <a:cubicBezTo>
                    <a:pt x="20013549" y="0"/>
                    <a:pt x="20151598" y="138049"/>
                    <a:pt x="20151598" y="308229"/>
                  </a:cubicBezTo>
                  <a:lnTo>
                    <a:pt x="20151598" y="1541018"/>
                  </a:lnTo>
                  <a:cubicBezTo>
                    <a:pt x="20151598" y="1711198"/>
                    <a:pt x="20013549" y="1849247"/>
                    <a:pt x="19843369" y="1849247"/>
                  </a:cubicBezTo>
                  <a:lnTo>
                    <a:pt x="308229" y="1849247"/>
                  </a:lnTo>
                  <a:cubicBezTo>
                    <a:pt x="138049" y="1849247"/>
                    <a:pt x="0" y="1711325"/>
                    <a:pt x="0" y="1541018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id="57" name="Group 25"/>
          <p:cNvGrpSpPr/>
          <p:nvPr/>
        </p:nvGrpSpPr>
        <p:grpSpPr>
          <a:xfrm rot="0">
            <a:off x="1647206" y="7824235"/>
            <a:ext cx="109814" cy="1372676"/>
            <a:chOff x="0" y="0"/>
            <a:chExt cx="146418" cy="1830235"/>
          </a:xfrm>
        </p:grpSpPr>
        <p:sp>
          <p:nvSpPr>
            <p:cNvPr id="1048656" name="Freeform 26"/>
            <p:cNvSpPr/>
            <p:nvPr/>
          </p:nvSpPr>
          <p:spPr>
            <a:xfrm rot="0" flipH="0" flipV="0">
              <a:off x="0" y="0"/>
              <a:ext cx="146431" cy="1830197"/>
            </a:xfrm>
            <a:custGeom>
              <a:avLst/>
              <a:ahLst/>
              <a:rect l="l" t="t" r="r" b="b"/>
              <a:pathLst>
                <a:path w="146431" h="1830197">
                  <a:moveTo>
                    <a:pt x="0" y="0"/>
                  </a:moveTo>
                  <a:lnTo>
                    <a:pt x="146431" y="0"/>
                  </a:lnTo>
                  <a:lnTo>
                    <a:pt x="146431" y="1830197"/>
                  </a:lnTo>
                  <a:lnTo>
                    <a:pt x="0" y="1830197"/>
                  </a:lnTo>
                  <a:close/>
                </a:path>
              </a:pathLst>
            </a:custGeom>
            <a:solidFill>
              <a:srgbClr val="366FC4"/>
            </a:solidFill>
          </p:spPr>
        </p:sp>
      </p:grpSp>
      <p:sp>
        <p:nvSpPr>
          <p:cNvPr id="1048657" name="TextBox 27"/>
          <p:cNvSpPr txBox="1"/>
          <p:nvPr/>
        </p:nvSpPr>
        <p:spPr>
          <a:xfrm rot="0">
            <a:off x="2081813" y="8032432"/>
            <a:ext cx="14298816" cy="343155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2702"/>
              </a:lnSpc>
            </a:pPr>
            <a:r>
              <a:rPr b="1" sz="2251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Core concept</a:t>
            </a:r>
          </a:p>
        </p:txBody>
      </p:sp>
      <p:sp>
        <p:nvSpPr>
          <p:cNvPr id="1048658" name="TextBox 28"/>
          <p:cNvSpPr txBox="1"/>
          <p:nvPr/>
        </p:nvSpPr>
        <p:spPr>
          <a:xfrm rot="0">
            <a:off x="2081813" y="8682914"/>
            <a:ext cx="14298816" cy="263018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2071"/>
              </a:lnSpc>
            </a:pPr>
            <a:r>
              <a:rPr sz="1726" lang="en-US">
                <a:solidFill>
                  <a:srgbClr val="525C6C"/>
                </a:solidFill>
                <a:latin typeface="Calibri (MS)"/>
                <a:ea typeface="Calibri (MS)"/>
                <a:cs typeface="Calibri (MS)"/>
                <a:sym typeface="Calibri (MS)"/>
              </a:rPr>
              <a:t>The system assists with drafting; users should review generated content and seek qualified legal advice when appropriate.</a:t>
            </a:r>
          </a:p>
        </p:txBody>
      </p:sp>
      <p:sp>
        <p:nvSpPr>
          <p:cNvPr id="1048659" name="TextBox 29"/>
          <p:cNvSpPr txBox="1"/>
          <p:nvPr/>
        </p:nvSpPr>
        <p:spPr>
          <a:xfrm rot="0">
            <a:off x="16426244" y="9694488"/>
            <a:ext cx="640728" cy="211674"/>
          </a:xfrm>
          <a:prstGeom prst="rect"/>
        </p:spPr>
        <p:txBody>
          <a:bodyPr anchor="t" bIns="0" lIns="0" rIns="0" rtlCol="0" tIns="0">
            <a:spAutoFit/>
          </a:bodyPr>
          <a:p>
            <a:pPr algn="r">
              <a:lnSpc>
                <a:spcPts val="1621"/>
              </a:lnSpc>
            </a:pPr>
            <a:r>
              <a:rPr sz="1351" lang="en-US">
                <a:solidFill>
                  <a:srgbClr val="525C6C"/>
                </a:solidFill>
                <a:latin typeface="Calibri (MS)"/>
                <a:ea typeface="Calibri (MS)"/>
                <a:cs typeface="Calibri (MS)"/>
                <a:sym typeface="Calibri (MS)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</p:bgPr>
    </p:bg>
    <p:spTree>
      <p:nvGrpSpPr>
        <p:cNvPr id="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0" name="TextBox 2"/>
          <p:cNvSpPr txBox="1"/>
          <p:nvPr/>
        </p:nvSpPr>
        <p:spPr>
          <a:xfrm rot="0">
            <a:off x="846411" y="344348"/>
            <a:ext cx="12033904" cy="640461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5043"/>
              </a:lnSpc>
            </a:pPr>
            <a:r>
              <a:rPr b="1" sz="4203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4. Working Process</a:t>
            </a:r>
          </a:p>
        </p:txBody>
      </p:sp>
      <p:sp>
        <p:nvSpPr>
          <p:cNvPr id="1048661" name="TextBox 3"/>
          <p:cNvSpPr txBox="1"/>
          <p:nvPr/>
        </p:nvSpPr>
        <p:spPr>
          <a:xfrm rot="0">
            <a:off x="887587" y="1188120"/>
            <a:ext cx="13269306" cy="274448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2161"/>
              </a:lnSpc>
            </a:pPr>
            <a:r>
              <a:rPr sz="1801" lang="en-US">
                <a:solidFill>
                  <a:srgbClr val="525C6C"/>
                </a:solidFill>
                <a:latin typeface="Calibri (MS)"/>
                <a:ea typeface="Calibri (MS)"/>
                <a:cs typeface="Calibri (MS)"/>
                <a:sym typeface="Calibri (MS)"/>
              </a:rPr>
              <a:t>From user information to a document draft</a:t>
            </a:r>
          </a:p>
        </p:txBody>
      </p:sp>
      <p:grpSp>
        <p:nvGrpSpPr>
          <p:cNvPr id="59" name="Group 4"/>
          <p:cNvGrpSpPr/>
          <p:nvPr/>
        </p:nvGrpSpPr>
        <p:grpSpPr>
          <a:xfrm rot="0">
            <a:off x="610552" y="3218631"/>
            <a:ext cx="2759640" cy="1592875"/>
            <a:chOff x="0" y="0"/>
            <a:chExt cx="3679520" cy="2123834"/>
          </a:xfrm>
        </p:grpSpPr>
        <p:sp>
          <p:nvSpPr>
            <p:cNvPr id="1048662" name="Freeform 5"/>
            <p:cNvSpPr/>
            <p:nvPr/>
          </p:nvSpPr>
          <p:spPr>
            <a:xfrm rot="0" flipH="0" flipV="0">
              <a:off x="0" y="0"/>
              <a:ext cx="3679444" cy="2123821"/>
            </a:xfrm>
            <a:custGeom>
              <a:avLst/>
              <a:ahLst/>
              <a:rect l="l" t="t" r="r" b="b"/>
              <a:pathLst>
                <a:path w="3679444" h="2123821">
                  <a:moveTo>
                    <a:pt x="0" y="353949"/>
                  </a:moveTo>
                  <a:cubicBezTo>
                    <a:pt x="0" y="158496"/>
                    <a:pt x="158496" y="0"/>
                    <a:pt x="353949" y="0"/>
                  </a:cubicBezTo>
                  <a:lnTo>
                    <a:pt x="3325495" y="0"/>
                  </a:lnTo>
                  <a:cubicBezTo>
                    <a:pt x="3520948" y="0"/>
                    <a:pt x="3679444" y="158496"/>
                    <a:pt x="3679444" y="353949"/>
                  </a:cubicBezTo>
                  <a:lnTo>
                    <a:pt x="3679444" y="1769872"/>
                  </a:lnTo>
                  <a:cubicBezTo>
                    <a:pt x="3679444" y="1965325"/>
                    <a:pt x="3520948" y="2123821"/>
                    <a:pt x="3325495" y="2123821"/>
                  </a:cubicBezTo>
                  <a:lnTo>
                    <a:pt x="353949" y="2123821"/>
                  </a:lnTo>
                  <a:cubicBezTo>
                    <a:pt x="158496" y="2123821"/>
                    <a:pt x="0" y="1965325"/>
                    <a:pt x="0" y="1769872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1048663" name="TextBox 6"/>
          <p:cNvSpPr txBox="1"/>
          <p:nvPr/>
        </p:nvSpPr>
        <p:spPr>
          <a:xfrm rot="0">
            <a:off x="818960" y="3333693"/>
            <a:ext cx="2342836" cy="594615"/>
          </a:xfrm>
          <a:prstGeom prst="rect"/>
        </p:spPr>
        <p:txBody>
          <a:bodyPr anchor="t" bIns="0" lIns="0" rIns="0" rtlCol="0" tIns="0">
            <a:spAutoFit/>
          </a:bodyPr>
          <a:p>
            <a:pPr algn="ctr">
              <a:lnSpc>
                <a:spcPts val="2341"/>
              </a:lnSpc>
            </a:pPr>
            <a:r>
              <a:rPr b="1" sz="1951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</a:t>
            </a:r>
          </a:p>
          <a:p>
            <a:pPr algn="ctr">
              <a:lnSpc>
                <a:spcPts val="2341"/>
              </a:lnSpc>
            </a:pPr>
            <a:r>
              <a:rPr b="1" sz="1951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Enter details</a:t>
            </a:r>
          </a:p>
        </p:txBody>
      </p:sp>
      <p:sp>
        <p:nvSpPr>
          <p:cNvPr id="1048664" name="AutoShape 7"/>
          <p:cNvSpPr/>
          <p:nvPr/>
        </p:nvSpPr>
        <p:spPr>
          <a:xfrm rot="165120">
            <a:off x="3343523" y="3998681"/>
            <a:ext cx="794014" cy="0"/>
          </a:xfrm>
          <a:prstGeom prst="line"/>
          <a:ln w="19050" cap="rnd">
            <a:solidFill>
              <a:srgbClr val="366FC4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60" name="Group 8"/>
          <p:cNvGrpSpPr/>
          <p:nvPr/>
        </p:nvGrpSpPr>
        <p:grpSpPr>
          <a:xfrm rot="0">
            <a:off x="4110866" y="3218631"/>
            <a:ext cx="2759640" cy="1592875"/>
            <a:chOff x="0" y="0"/>
            <a:chExt cx="3679520" cy="2123834"/>
          </a:xfrm>
        </p:grpSpPr>
        <p:sp>
          <p:nvSpPr>
            <p:cNvPr id="1048665" name="Freeform 9"/>
            <p:cNvSpPr/>
            <p:nvPr/>
          </p:nvSpPr>
          <p:spPr>
            <a:xfrm rot="0" flipH="0" flipV="0">
              <a:off x="0" y="0"/>
              <a:ext cx="3679444" cy="2123821"/>
            </a:xfrm>
            <a:custGeom>
              <a:avLst/>
              <a:ahLst/>
              <a:rect l="l" t="t" r="r" b="b"/>
              <a:pathLst>
                <a:path w="3679444" h="2123821">
                  <a:moveTo>
                    <a:pt x="0" y="353949"/>
                  </a:moveTo>
                  <a:cubicBezTo>
                    <a:pt x="0" y="158496"/>
                    <a:pt x="158496" y="0"/>
                    <a:pt x="353949" y="0"/>
                  </a:cubicBezTo>
                  <a:lnTo>
                    <a:pt x="3325495" y="0"/>
                  </a:lnTo>
                  <a:cubicBezTo>
                    <a:pt x="3520948" y="0"/>
                    <a:pt x="3679444" y="158496"/>
                    <a:pt x="3679444" y="353949"/>
                  </a:cubicBezTo>
                  <a:lnTo>
                    <a:pt x="3679444" y="1769872"/>
                  </a:lnTo>
                  <a:cubicBezTo>
                    <a:pt x="3679444" y="1965325"/>
                    <a:pt x="3520948" y="2123821"/>
                    <a:pt x="3325495" y="2123821"/>
                  </a:cubicBezTo>
                  <a:lnTo>
                    <a:pt x="353949" y="2123821"/>
                  </a:lnTo>
                  <a:cubicBezTo>
                    <a:pt x="158496" y="2123821"/>
                    <a:pt x="0" y="1965325"/>
                    <a:pt x="0" y="1769872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1048666" name="TextBox 10"/>
          <p:cNvSpPr txBox="1"/>
          <p:nvPr/>
        </p:nvSpPr>
        <p:spPr>
          <a:xfrm rot="0">
            <a:off x="4319273" y="3333693"/>
            <a:ext cx="2342836" cy="594615"/>
          </a:xfrm>
          <a:prstGeom prst="rect"/>
        </p:spPr>
        <p:txBody>
          <a:bodyPr anchor="t" bIns="0" lIns="0" rIns="0" rtlCol="0" tIns="0">
            <a:spAutoFit/>
          </a:bodyPr>
          <a:p>
            <a:pPr algn="ctr">
              <a:lnSpc>
                <a:spcPts val="2341"/>
              </a:lnSpc>
            </a:pPr>
            <a:r>
              <a:rPr b="1" sz="1951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</a:t>
            </a:r>
          </a:p>
          <a:p>
            <a:pPr algn="ctr">
              <a:lnSpc>
                <a:spcPts val="2341"/>
              </a:lnSpc>
            </a:pPr>
            <a:r>
              <a:rPr b="1" sz="1951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Analyze input</a:t>
            </a:r>
          </a:p>
        </p:txBody>
      </p:sp>
      <p:sp>
        <p:nvSpPr>
          <p:cNvPr id="1048667" name="AutoShape 11"/>
          <p:cNvSpPr/>
          <p:nvPr/>
        </p:nvSpPr>
        <p:spPr>
          <a:xfrm rot="165120">
            <a:off x="6843836" y="3998681"/>
            <a:ext cx="794014" cy="0"/>
          </a:xfrm>
          <a:prstGeom prst="line"/>
          <a:ln w="19050" cap="rnd">
            <a:solidFill>
              <a:srgbClr val="366FC4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61" name="Group 12"/>
          <p:cNvGrpSpPr/>
          <p:nvPr/>
        </p:nvGrpSpPr>
        <p:grpSpPr>
          <a:xfrm rot="0">
            <a:off x="7611180" y="3218631"/>
            <a:ext cx="2759640" cy="1592875"/>
            <a:chOff x="0" y="0"/>
            <a:chExt cx="3679520" cy="2123834"/>
          </a:xfrm>
        </p:grpSpPr>
        <p:sp>
          <p:nvSpPr>
            <p:cNvPr id="1048668" name="Freeform 13"/>
            <p:cNvSpPr/>
            <p:nvPr/>
          </p:nvSpPr>
          <p:spPr>
            <a:xfrm rot="0" flipH="0" flipV="0">
              <a:off x="0" y="0"/>
              <a:ext cx="3679444" cy="2123821"/>
            </a:xfrm>
            <a:custGeom>
              <a:avLst/>
              <a:ahLst/>
              <a:rect l="l" t="t" r="r" b="b"/>
              <a:pathLst>
                <a:path w="3679444" h="2123821">
                  <a:moveTo>
                    <a:pt x="0" y="353949"/>
                  </a:moveTo>
                  <a:cubicBezTo>
                    <a:pt x="0" y="158496"/>
                    <a:pt x="158496" y="0"/>
                    <a:pt x="353949" y="0"/>
                  </a:cubicBezTo>
                  <a:lnTo>
                    <a:pt x="3325495" y="0"/>
                  </a:lnTo>
                  <a:cubicBezTo>
                    <a:pt x="3520948" y="0"/>
                    <a:pt x="3679444" y="158496"/>
                    <a:pt x="3679444" y="353949"/>
                  </a:cubicBezTo>
                  <a:lnTo>
                    <a:pt x="3679444" y="1769872"/>
                  </a:lnTo>
                  <a:cubicBezTo>
                    <a:pt x="3679444" y="1965325"/>
                    <a:pt x="3520948" y="2123821"/>
                    <a:pt x="3325495" y="2123821"/>
                  </a:cubicBezTo>
                  <a:lnTo>
                    <a:pt x="353949" y="2123821"/>
                  </a:lnTo>
                  <a:cubicBezTo>
                    <a:pt x="158496" y="2123821"/>
                    <a:pt x="0" y="1965325"/>
                    <a:pt x="0" y="1769872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1048669" name="TextBox 14"/>
          <p:cNvSpPr txBox="1"/>
          <p:nvPr/>
        </p:nvSpPr>
        <p:spPr>
          <a:xfrm rot="0">
            <a:off x="7819587" y="3333693"/>
            <a:ext cx="2342836" cy="594615"/>
          </a:xfrm>
          <a:prstGeom prst="rect"/>
        </p:spPr>
        <p:txBody>
          <a:bodyPr anchor="t" bIns="0" lIns="0" rIns="0" rtlCol="0" tIns="0">
            <a:spAutoFit/>
          </a:bodyPr>
          <a:p>
            <a:pPr algn="ctr">
              <a:lnSpc>
                <a:spcPts val="2341"/>
              </a:lnSpc>
            </a:pPr>
            <a:r>
              <a:rPr b="1" sz="1951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</a:t>
            </a:r>
          </a:p>
          <a:p>
            <a:pPr algn="ctr">
              <a:lnSpc>
                <a:spcPts val="2341"/>
              </a:lnSpc>
            </a:pPr>
            <a:r>
              <a:rPr b="1" sz="1951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Select structure</a:t>
            </a:r>
          </a:p>
        </p:txBody>
      </p:sp>
      <p:sp>
        <p:nvSpPr>
          <p:cNvPr id="1048670" name="AutoShape 15"/>
          <p:cNvSpPr/>
          <p:nvPr/>
        </p:nvSpPr>
        <p:spPr>
          <a:xfrm rot="165120">
            <a:off x="10344150" y="3998681"/>
            <a:ext cx="794014" cy="0"/>
          </a:xfrm>
          <a:prstGeom prst="line"/>
          <a:ln w="19050" cap="rnd">
            <a:solidFill>
              <a:srgbClr val="366FC4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62" name="Group 16"/>
          <p:cNvGrpSpPr/>
          <p:nvPr/>
        </p:nvGrpSpPr>
        <p:grpSpPr>
          <a:xfrm rot="0">
            <a:off x="11111494" y="3218631"/>
            <a:ext cx="2759640" cy="1592875"/>
            <a:chOff x="0" y="0"/>
            <a:chExt cx="3679520" cy="2123834"/>
          </a:xfrm>
        </p:grpSpPr>
        <p:sp>
          <p:nvSpPr>
            <p:cNvPr id="1048671" name="Freeform 17"/>
            <p:cNvSpPr/>
            <p:nvPr/>
          </p:nvSpPr>
          <p:spPr>
            <a:xfrm rot="0" flipH="0" flipV="0">
              <a:off x="0" y="0"/>
              <a:ext cx="3679444" cy="2123821"/>
            </a:xfrm>
            <a:custGeom>
              <a:avLst/>
              <a:ahLst/>
              <a:rect l="l" t="t" r="r" b="b"/>
              <a:pathLst>
                <a:path w="3679444" h="2123821">
                  <a:moveTo>
                    <a:pt x="0" y="353949"/>
                  </a:moveTo>
                  <a:cubicBezTo>
                    <a:pt x="0" y="158496"/>
                    <a:pt x="158496" y="0"/>
                    <a:pt x="353949" y="0"/>
                  </a:cubicBezTo>
                  <a:lnTo>
                    <a:pt x="3325495" y="0"/>
                  </a:lnTo>
                  <a:cubicBezTo>
                    <a:pt x="3520948" y="0"/>
                    <a:pt x="3679444" y="158496"/>
                    <a:pt x="3679444" y="353949"/>
                  </a:cubicBezTo>
                  <a:lnTo>
                    <a:pt x="3679444" y="1769872"/>
                  </a:lnTo>
                  <a:cubicBezTo>
                    <a:pt x="3679444" y="1965325"/>
                    <a:pt x="3520948" y="2123821"/>
                    <a:pt x="3325495" y="2123821"/>
                  </a:cubicBezTo>
                  <a:lnTo>
                    <a:pt x="353949" y="2123821"/>
                  </a:lnTo>
                  <a:cubicBezTo>
                    <a:pt x="158496" y="2123821"/>
                    <a:pt x="0" y="1965325"/>
                    <a:pt x="0" y="1769872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1048672" name="TextBox 18"/>
          <p:cNvSpPr txBox="1"/>
          <p:nvPr/>
        </p:nvSpPr>
        <p:spPr>
          <a:xfrm rot="0">
            <a:off x="11319901" y="3333693"/>
            <a:ext cx="2342836" cy="594615"/>
          </a:xfrm>
          <a:prstGeom prst="rect"/>
        </p:spPr>
        <p:txBody>
          <a:bodyPr anchor="t" bIns="0" lIns="0" rIns="0" rtlCol="0" tIns="0">
            <a:spAutoFit/>
          </a:bodyPr>
          <a:p>
            <a:pPr algn="ctr">
              <a:lnSpc>
                <a:spcPts val="2341"/>
              </a:lnSpc>
            </a:pPr>
            <a:r>
              <a:rPr b="1" sz="1951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4</a:t>
            </a:r>
          </a:p>
          <a:p>
            <a:pPr algn="ctr">
              <a:lnSpc>
                <a:spcPts val="2341"/>
              </a:lnSpc>
            </a:pPr>
            <a:r>
              <a:rPr b="1" sz="1951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Generate draft</a:t>
            </a:r>
          </a:p>
        </p:txBody>
      </p:sp>
      <p:sp>
        <p:nvSpPr>
          <p:cNvPr id="1048673" name="AutoShape 19"/>
          <p:cNvSpPr/>
          <p:nvPr/>
        </p:nvSpPr>
        <p:spPr>
          <a:xfrm rot="165120">
            <a:off x="13844464" y="3998681"/>
            <a:ext cx="794014" cy="0"/>
          </a:xfrm>
          <a:prstGeom prst="line"/>
          <a:ln w="19050" cap="rnd">
            <a:solidFill>
              <a:srgbClr val="366FC4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63" name="Group 20"/>
          <p:cNvGrpSpPr/>
          <p:nvPr/>
        </p:nvGrpSpPr>
        <p:grpSpPr>
          <a:xfrm rot="0">
            <a:off x="14611807" y="3218631"/>
            <a:ext cx="2759640" cy="1592875"/>
            <a:chOff x="0" y="0"/>
            <a:chExt cx="3679520" cy="2123834"/>
          </a:xfrm>
        </p:grpSpPr>
        <p:sp>
          <p:nvSpPr>
            <p:cNvPr id="1048674" name="Freeform 21"/>
            <p:cNvSpPr/>
            <p:nvPr/>
          </p:nvSpPr>
          <p:spPr>
            <a:xfrm rot="0" flipH="0" flipV="0">
              <a:off x="0" y="0"/>
              <a:ext cx="3679444" cy="2123821"/>
            </a:xfrm>
            <a:custGeom>
              <a:avLst/>
              <a:ahLst/>
              <a:rect l="l" t="t" r="r" b="b"/>
              <a:pathLst>
                <a:path w="3679444" h="2123821">
                  <a:moveTo>
                    <a:pt x="0" y="353949"/>
                  </a:moveTo>
                  <a:cubicBezTo>
                    <a:pt x="0" y="158496"/>
                    <a:pt x="158496" y="0"/>
                    <a:pt x="353949" y="0"/>
                  </a:cubicBezTo>
                  <a:lnTo>
                    <a:pt x="3325495" y="0"/>
                  </a:lnTo>
                  <a:cubicBezTo>
                    <a:pt x="3520948" y="0"/>
                    <a:pt x="3679444" y="158496"/>
                    <a:pt x="3679444" y="353949"/>
                  </a:cubicBezTo>
                  <a:lnTo>
                    <a:pt x="3679444" y="1769872"/>
                  </a:lnTo>
                  <a:cubicBezTo>
                    <a:pt x="3679444" y="1965325"/>
                    <a:pt x="3520948" y="2123821"/>
                    <a:pt x="3325495" y="2123821"/>
                  </a:cubicBezTo>
                  <a:lnTo>
                    <a:pt x="353949" y="2123821"/>
                  </a:lnTo>
                  <a:cubicBezTo>
                    <a:pt x="158496" y="2123821"/>
                    <a:pt x="0" y="1965325"/>
                    <a:pt x="0" y="1769872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1048675" name="TextBox 22"/>
          <p:cNvSpPr txBox="1"/>
          <p:nvPr/>
        </p:nvSpPr>
        <p:spPr>
          <a:xfrm rot="0">
            <a:off x="14820214" y="3333693"/>
            <a:ext cx="2342836" cy="594615"/>
          </a:xfrm>
          <a:prstGeom prst="rect"/>
        </p:spPr>
        <p:txBody>
          <a:bodyPr anchor="t" bIns="0" lIns="0" rIns="0" rtlCol="0" tIns="0">
            <a:spAutoFit/>
          </a:bodyPr>
          <a:p>
            <a:pPr algn="ctr">
              <a:lnSpc>
                <a:spcPts val="2341"/>
              </a:lnSpc>
            </a:pPr>
            <a:r>
              <a:rPr b="1" sz="1951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5</a:t>
            </a:r>
          </a:p>
          <a:p>
            <a:pPr algn="ctr">
              <a:lnSpc>
                <a:spcPts val="2341"/>
              </a:lnSpc>
            </a:pPr>
            <a:r>
              <a:rPr b="1" sz="1951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Review &amp; export</a:t>
            </a:r>
          </a:p>
        </p:txBody>
      </p:sp>
      <p:grpSp>
        <p:nvGrpSpPr>
          <p:cNvPr id="64" name="Group 23"/>
          <p:cNvGrpSpPr/>
          <p:nvPr/>
        </p:nvGrpSpPr>
        <p:grpSpPr>
          <a:xfrm rot="0">
            <a:off x="2875464" y="6238513"/>
            <a:ext cx="12642885" cy="1730140"/>
            <a:chOff x="0" y="0"/>
            <a:chExt cx="16857180" cy="2306853"/>
          </a:xfrm>
        </p:grpSpPr>
        <p:sp>
          <p:nvSpPr>
            <p:cNvPr id="1048676" name="Freeform 24"/>
            <p:cNvSpPr/>
            <p:nvPr/>
          </p:nvSpPr>
          <p:spPr>
            <a:xfrm rot="0" flipH="0" flipV="0">
              <a:off x="0" y="0"/>
              <a:ext cx="16857092" cy="2306828"/>
            </a:xfrm>
            <a:custGeom>
              <a:avLst/>
              <a:ahLst/>
              <a:rect l="l" t="t" r="r" b="b"/>
              <a:pathLst>
                <a:path w="16857092" h="2306828">
                  <a:moveTo>
                    <a:pt x="0" y="384429"/>
                  </a:moveTo>
                  <a:cubicBezTo>
                    <a:pt x="0" y="172085"/>
                    <a:pt x="172085" y="0"/>
                    <a:pt x="384429" y="0"/>
                  </a:cubicBezTo>
                  <a:lnTo>
                    <a:pt x="16472663" y="0"/>
                  </a:lnTo>
                  <a:cubicBezTo>
                    <a:pt x="16685006" y="0"/>
                    <a:pt x="16857092" y="172085"/>
                    <a:pt x="16857092" y="384429"/>
                  </a:cubicBezTo>
                  <a:lnTo>
                    <a:pt x="16857092" y="1922399"/>
                  </a:lnTo>
                  <a:cubicBezTo>
                    <a:pt x="16857092" y="2134743"/>
                    <a:pt x="16685006" y="2306828"/>
                    <a:pt x="16472663" y="2306828"/>
                  </a:cubicBezTo>
                  <a:lnTo>
                    <a:pt x="384429" y="2306828"/>
                  </a:lnTo>
                  <a:cubicBezTo>
                    <a:pt x="172085" y="2306828"/>
                    <a:pt x="0" y="2134743"/>
                    <a:pt x="0" y="1922399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id="65" name="Group 25"/>
          <p:cNvGrpSpPr/>
          <p:nvPr/>
        </p:nvGrpSpPr>
        <p:grpSpPr>
          <a:xfrm rot="0">
            <a:off x="2882608" y="6245657"/>
            <a:ext cx="109814" cy="1715843"/>
            <a:chOff x="0" y="0"/>
            <a:chExt cx="146418" cy="2287791"/>
          </a:xfrm>
        </p:grpSpPr>
        <p:sp>
          <p:nvSpPr>
            <p:cNvPr id="1048677" name="Freeform 26"/>
            <p:cNvSpPr/>
            <p:nvPr/>
          </p:nvSpPr>
          <p:spPr>
            <a:xfrm rot="0" flipH="0" flipV="0">
              <a:off x="0" y="0"/>
              <a:ext cx="146431" cy="2287778"/>
            </a:xfrm>
            <a:custGeom>
              <a:avLst/>
              <a:ahLst/>
              <a:rect l="l" t="t" r="r" b="b"/>
              <a:pathLst>
                <a:path w="146431" h="2287778">
                  <a:moveTo>
                    <a:pt x="0" y="0"/>
                  </a:moveTo>
                  <a:lnTo>
                    <a:pt x="146431" y="0"/>
                  </a:lnTo>
                  <a:lnTo>
                    <a:pt x="146431" y="2287778"/>
                  </a:lnTo>
                  <a:lnTo>
                    <a:pt x="0" y="2287778"/>
                  </a:lnTo>
                  <a:close/>
                </a:path>
              </a:pathLst>
            </a:custGeom>
            <a:solidFill>
              <a:srgbClr val="366FC4"/>
            </a:solidFill>
          </p:spPr>
        </p:sp>
      </p:grpSp>
      <p:sp>
        <p:nvSpPr>
          <p:cNvPr id="1048678" name="TextBox 27"/>
          <p:cNvSpPr txBox="1"/>
          <p:nvPr/>
        </p:nvSpPr>
        <p:spPr>
          <a:xfrm rot="0">
            <a:off x="3317224" y="6453854"/>
            <a:ext cx="11828002" cy="343155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2702"/>
              </a:lnSpc>
            </a:pPr>
            <a:r>
              <a:rPr b="1" sz="2251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Output</a:t>
            </a:r>
          </a:p>
        </p:txBody>
      </p:sp>
      <p:sp>
        <p:nvSpPr>
          <p:cNvPr id="1048679" name="TextBox 28"/>
          <p:cNvSpPr txBox="1"/>
          <p:nvPr/>
        </p:nvSpPr>
        <p:spPr>
          <a:xfrm rot="0">
            <a:off x="3317224" y="7104336"/>
            <a:ext cx="11828002" cy="263017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2071"/>
              </a:lnSpc>
            </a:pPr>
            <a:r>
              <a:rPr sz="1726" lang="en-US">
                <a:solidFill>
                  <a:srgbClr val="525C6C"/>
                </a:solidFill>
                <a:latin typeface="Calibri (MS)"/>
                <a:ea typeface="Calibri (MS)"/>
                <a:cs typeface="Calibri (MS)"/>
                <a:sym typeface="Calibri (MS)"/>
              </a:rPr>
              <a:t>A structured, editable legal document draft based on the information supplied by the user.</a:t>
            </a:r>
          </a:p>
        </p:txBody>
      </p:sp>
      <p:sp>
        <p:nvSpPr>
          <p:cNvPr id="1048680" name="TextBox 29"/>
          <p:cNvSpPr txBox="1"/>
          <p:nvPr/>
        </p:nvSpPr>
        <p:spPr>
          <a:xfrm rot="0">
            <a:off x="16426244" y="9694488"/>
            <a:ext cx="640728" cy="211674"/>
          </a:xfrm>
          <a:prstGeom prst="rect"/>
        </p:spPr>
        <p:txBody>
          <a:bodyPr anchor="t" bIns="0" lIns="0" rIns="0" rtlCol="0" tIns="0">
            <a:spAutoFit/>
          </a:bodyPr>
          <a:p>
            <a:pPr algn="r">
              <a:lnSpc>
                <a:spcPts val="1621"/>
              </a:lnSpc>
            </a:pPr>
            <a:r>
              <a:rPr sz="1351" lang="en-US">
                <a:solidFill>
                  <a:srgbClr val="525C6C"/>
                </a:solidFill>
                <a:latin typeface="Calibri (MS)"/>
                <a:ea typeface="Calibri (MS)"/>
                <a:cs typeface="Calibri (MS)"/>
                <a:sym typeface="Calibri (MS)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</p:bgPr>
    </p:bg>
    <p:spTree>
      <p:nvGrpSpPr>
        <p:cNvPr id="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1" name="TextBox 2"/>
          <p:cNvSpPr txBox="1"/>
          <p:nvPr/>
        </p:nvSpPr>
        <p:spPr>
          <a:xfrm rot="0">
            <a:off x="846411" y="344348"/>
            <a:ext cx="12033904" cy="749256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5043"/>
              </a:lnSpc>
            </a:pPr>
            <a:r>
              <a:rPr b="1" sz="4203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5. Key Features</a:t>
            </a:r>
          </a:p>
        </p:txBody>
      </p:sp>
      <p:sp>
        <p:nvSpPr>
          <p:cNvPr id="1048682" name="TextBox 3"/>
          <p:cNvSpPr txBox="1"/>
          <p:nvPr/>
        </p:nvSpPr>
        <p:spPr>
          <a:xfrm rot="0">
            <a:off x="887587" y="1188120"/>
            <a:ext cx="13269306" cy="495729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2161"/>
              </a:lnSpc>
            </a:pPr>
            <a:r>
              <a:rPr sz="1801" lang="en-US">
                <a:solidFill>
                  <a:srgbClr val="525C6C"/>
                </a:solidFill>
                <a:latin typeface="Calibri (MS)"/>
                <a:ea typeface="Calibri (MS)"/>
                <a:cs typeface="Calibri (MS)"/>
                <a:sym typeface="Calibri (MS)"/>
              </a:rPr>
              <a:t>Main capabilities of LegalEase</a:t>
            </a:r>
          </a:p>
        </p:txBody>
      </p:sp>
      <p:grpSp>
        <p:nvGrpSpPr>
          <p:cNvPr id="67" name="Group 4"/>
          <p:cNvGrpSpPr/>
          <p:nvPr/>
        </p:nvGrpSpPr>
        <p:grpSpPr>
          <a:xfrm rot="0">
            <a:off x="885092" y="1983229"/>
            <a:ext cx="5161817" cy="2485111"/>
            <a:chOff x="0" y="0"/>
            <a:chExt cx="6882422" cy="3313481"/>
          </a:xfrm>
        </p:grpSpPr>
        <p:sp>
          <p:nvSpPr>
            <p:cNvPr id="1048683" name="Freeform 5"/>
            <p:cNvSpPr/>
            <p:nvPr/>
          </p:nvSpPr>
          <p:spPr>
            <a:xfrm rot="0" flipH="0" flipV="0">
              <a:off x="0" y="0"/>
              <a:ext cx="6882384" cy="3313430"/>
            </a:xfrm>
            <a:custGeom>
              <a:avLst/>
              <a:ahLst/>
              <a:rect l="l" t="t" r="r" b="b"/>
              <a:pathLst>
                <a:path w="6882384" h="3313430">
                  <a:moveTo>
                    <a:pt x="0" y="552196"/>
                  </a:moveTo>
                  <a:cubicBezTo>
                    <a:pt x="0" y="247269"/>
                    <a:pt x="247269" y="0"/>
                    <a:pt x="552196" y="0"/>
                  </a:cubicBezTo>
                  <a:lnTo>
                    <a:pt x="6330188" y="0"/>
                  </a:lnTo>
                  <a:cubicBezTo>
                    <a:pt x="6635242" y="0"/>
                    <a:pt x="6882384" y="247269"/>
                    <a:pt x="6882384" y="552196"/>
                  </a:cubicBezTo>
                  <a:lnTo>
                    <a:pt x="6882384" y="2761234"/>
                  </a:lnTo>
                  <a:cubicBezTo>
                    <a:pt x="6882384" y="3066288"/>
                    <a:pt x="6635115" y="3313430"/>
                    <a:pt x="6330188" y="3313430"/>
                  </a:cubicBezTo>
                  <a:lnTo>
                    <a:pt x="552196" y="3313430"/>
                  </a:lnTo>
                  <a:cubicBezTo>
                    <a:pt x="247269" y="3313430"/>
                    <a:pt x="0" y="3066288"/>
                    <a:pt x="0" y="2761234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id="68" name="Group 6"/>
          <p:cNvGrpSpPr/>
          <p:nvPr/>
        </p:nvGrpSpPr>
        <p:grpSpPr>
          <a:xfrm rot="0">
            <a:off x="892235" y="1990373"/>
            <a:ext cx="109814" cy="2470814"/>
            <a:chOff x="0" y="0"/>
            <a:chExt cx="146418" cy="3294418"/>
          </a:xfrm>
        </p:grpSpPr>
        <p:sp>
          <p:nvSpPr>
            <p:cNvPr id="1048684" name="Freeform 7"/>
            <p:cNvSpPr/>
            <p:nvPr/>
          </p:nvSpPr>
          <p:spPr>
            <a:xfrm rot="0" flipH="0" flipV="0">
              <a:off x="0" y="0"/>
              <a:ext cx="146431" cy="3294380"/>
            </a:xfrm>
            <a:custGeom>
              <a:avLst/>
              <a:ahLst/>
              <a:rect l="l" t="t" r="r" b="b"/>
              <a:pathLst>
                <a:path w="146431" h="3294380">
                  <a:moveTo>
                    <a:pt x="0" y="0"/>
                  </a:moveTo>
                  <a:lnTo>
                    <a:pt x="146431" y="0"/>
                  </a:lnTo>
                  <a:lnTo>
                    <a:pt x="146431" y="3294380"/>
                  </a:lnTo>
                  <a:lnTo>
                    <a:pt x="0" y="3294380"/>
                  </a:lnTo>
                  <a:close/>
                </a:path>
              </a:pathLst>
            </a:custGeom>
            <a:solidFill>
              <a:srgbClr val="366FC4"/>
            </a:solidFill>
          </p:spPr>
        </p:sp>
      </p:grpSp>
      <p:sp>
        <p:nvSpPr>
          <p:cNvPr id="1048685" name="TextBox 8"/>
          <p:cNvSpPr txBox="1"/>
          <p:nvPr/>
        </p:nvSpPr>
        <p:spPr>
          <a:xfrm rot="0">
            <a:off x="1326842" y="2198570"/>
            <a:ext cx="4346943" cy="514779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2702"/>
              </a:lnSpc>
            </a:pPr>
            <a:r>
              <a:rPr b="1" sz="2251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AI document generation</a:t>
            </a:r>
          </a:p>
        </p:txBody>
      </p:sp>
      <p:sp>
        <p:nvSpPr>
          <p:cNvPr id="1048686" name="TextBox 9"/>
          <p:cNvSpPr txBox="1"/>
          <p:nvPr/>
        </p:nvSpPr>
        <p:spPr>
          <a:xfrm rot="0">
            <a:off x="1326842" y="2849051"/>
            <a:ext cx="4346943" cy="1387964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2071"/>
              </a:lnSpc>
            </a:pPr>
            <a:r>
              <a:rPr sz="1726" lang="en-US">
                <a:solidFill>
                  <a:srgbClr val="525C6C"/>
                </a:solidFill>
                <a:latin typeface="Calibri (MS)"/>
                <a:ea typeface="Calibri (MS)"/>
                <a:cs typeface="Calibri (MS)"/>
                <a:sym typeface="Calibri (MS)"/>
              </a:rPr>
              <a:t>Creates a draft from user inputs.</a:t>
            </a:r>
          </a:p>
        </p:txBody>
      </p:sp>
      <p:grpSp>
        <p:nvGrpSpPr>
          <p:cNvPr id="69" name="Group 10"/>
          <p:cNvGrpSpPr/>
          <p:nvPr/>
        </p:nvGrpSpPr>
        <p:grpSpPr>
          <a:xfrm rot="0">
            <a:off x="6650307" y="1983229"/>
            <a:ext cx="5161817" cy="2485111"/>
            <a:chOff x="0" y="0"/>
            <a:chExt cx="6882422" cy="3313481"/>
          </a:xfrm>
        </p:grpSpPr>
        <p:sp>
          <p:nvSpPr>
            <p:cNvPr id="1048687" name="Freeform 11"/>
            <p:cNvSpPr/>
            <p:nvPr/>
          </p:nvSpPr>
          <p:spPr>
            <a:xfrm rot="0" flipH="0" flipV="0">
              <a:off x="0" y="0"/>
              <a:ext cx="6882384" cy="3313430"/>
            </a:xfrm>
            <a:custGeom>
              <a:avLst/>
              <a:ahLst/>
              <a:rect l="l" t="t" r="r" b="b"/>
              <a:pathLst>
                <a:path w="6882384" h="3313430">
                  <a:moveTo>
                    <a:pt x="0" y="552196"/>
                  </a:moveTo>
                  <a:cubicBezTo>
                    <a:pt x="0" y="247269"/>
                    <a:pt x="247269" y="0"/>
                    <a:pt x="552196" y="0"/>
                  </a:cubicBezTo>
                  <a:lnTo>
                    <a:pt x="6330188" y="0"/>
                  </a:lnTo>
                  <a:cubicBezTo>
                    <a:pt x="6635242" y="0"/>
                    <a:pt x="6882384" y="247269"/>
                    <a:pt x="6882384" y="552196"/>
                  </a:cubicBezTo>
                  <a:lnTo>
                    <a:pt x="6882384" y="2761234"/>
                  </a:lnTo>
                  <a:cubicBezTo>
                    <a:pt x="6882384" y="3066288"/>
                    <a:pt x="6635115" y="3313430"/>
                    <a:pt x="6330188" y="3313430"/>
                  </a:cubicBezTo>
                  <a:lnTo>
                    <a:pt x="552196" y="3313430"/>
                  </a:lnTo>
                  <a:cubicBezTo>
                    <a:pt x="247269" y="3313430"/>
                    <a:pt x="0" y="3066288"/>
                    <a:pt x="0" y="2761234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id="70" name="Group 12"/>
          <p:cNvGrpSpPr/>
          <p:nvPr/>
        </p:nvGrpSpPr>
        <p:grpSpPr>
          <a:xfrm rot="0">
            <a:off x="6657461" y="1990373"/>
            <a:ext cx="109814" cy="2470814"/>
            <a:chOff x="0" y="0"/>
            <a:chExt cx="146418" cy="3294418"/>
          </a:xfrm>
        </p:grpSpPr>
        <p:sp>
          <p:nvSpPr>
            <p:cNvPr id="1048688" name="Freeform 13"/>
            <p:cNvSpPr/>
            <p:nvPr/>
          </p:nvSpPr>
          <p:spPr>
            <a:xfrm rot="0" flipH="0" flipV="0">
              <a:off x="0" y="0"/>
              <a:ext cx="146431" cy="3294380"/>
            </a:xfrm>
            <a:custGeom>
              <a:avLst/>
              <a:ahLst/>
              <a:rect l="l" t="t" r="r" b="b"/>
              <a:pathLst>
                <a:path w="146431" h="3294380">
                  <a:moveTo>
                    <a:pt x="0" y="0"/>
                  </a:moveTo>
                  <a:lnTo>
                    <a:pt x="146431" y="0"/>
                  </a:lnTo>
                  <a:lnTo>
                    <a:pt x="146431" y="3294380"/>
                  </a:lnTo>
                  <a:lnTo>
                    <a:pt x="0" y="3294380"/>
                  </a:lnTo>
                  <a:close/>
                </a:path>
              </a:pathLst>
            </a:custGeom>
            <a:solidFill>
              <a:srgbClr val="269D91"/>
            </a:solidFill>
          </p:spPr>
        </p:sp>
      </p:grpSp>
      <p:sp>
        <p:nvSpPr>
          <p:cNvPr id="1048689" name="TextBox 14"/>
          <p:cNvSpPr txBox="1"/>
          <p:nvPr/>
        </p:nvSpPr>
        <p:spPr>
          <a:xfrm rot="0">
            <a:off x="7092067" y="2198570"/>
            <a:ext cx="4346943" cy="514779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2702"/>
              </a:lnSpc>
            </a:pPr>
            <a:r>
              <a:rPr b="1" sz="2251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Templates</a:t>
            </a:r>
          </a:p>
        </p:txBody>
      </p:sp>
      <p:sp>
        <p:nvSpPr>
          <p:cNvPr id="1048690" name="TextBox 15"/>
          <p:cNvSpPr txBox="1"/>
          <p:nvPr/>
        </p:nvSpPr>
        <p:spPr>
          <a:xfrm rot="0">
            <a:off x="7092067" y="2849051"/>
            <a:ext cx="4346943" cy="1387964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2071"/>
              </a:lnSpc>
            </a:pPr>
            <a:r>
              <a:rPr sz="1726" lang="en-US">
                <a:solidFill>
                  <a:srgbClr val="525C6C"/>
                </a:solidFill>
                <a:latin typeface="Calibri (MS)"/>
                <a:ea typeface="Calibri (MS)"/>
                <a:cs typeface="Calibri (MS)"/>
                <a:sym typeface="Calibri (MS)"/>
              </a:rPr>
              <a:t>Supports different document types.</a:t>
            </a:r>
          </a:p>
        </p:txBody>
      </p:sp>
      <p:grpSp>
        <p:nvGrpSpPr>
          <p:cNvPr id="71" name="Group 16"/>
          <p:cNvGrpSpPr/>
          <p:nvPr/>
        </p:nvGrpSpPr>
        <p:grpSpPr>
          <a:xfrm rot="0">
            <a:off x="12415533" y="1983229"/>
            <a:ext cx="5161817" cy="2485111"/>
            <a:chOff x="0" y="0"/>
            <a:chExt cx="6882422" cy="3313481"/>
          </a:xfrm>
        </p:grpSpPr>
        <p:sp>
          <p:nvSpPr>
            <p:cNvPr id="1048691" name="Freeform 17"/>
            <p:cNvSpPr/>
            <p:nvPr/>
          </p:nvSpPr>
          <p:spPr>
            <a:xfrm rot="0" flipH="0" flipV="0">
              <a:off x="0" y="0"/>
              <a:ext cx="6882384" cy="3313430"/>
            </a:xfrm>
            <a:custGeom>
              <a:avLst/>
              <a:ahLst/>
              <a:rect l="l" t="t" r="r" b="b"/>
              <a:pathLst>
                <a:path w="6882384" h="3313430">
                  <a:moveTo>
                    <a:pt x="0" y="552196"/>
                  </a:moveTo>
                  <a:cubicBezTo>
                    <a:pt x="0" y="247269"/>
                    <a:pt x="247269" y="0"/>
                    <a:pt x="552196" y="0"/>
                  </a:cubicBezTo>
                  <a:lnTo>
                    <a:pt x="6330188" y="0"/>
                  </a:lnTo>
                  <a:cubicBezTo>
                    <a:pt x="6635242" y="0"/>
                    <a:pt x="6882384" y="247269"/>
                    <a:pt x="6882384" y="552196"/>
                  </a:cubicBezTo>
                  <a:lnTo>
                    <a:pt x="6882384" y="2761234"/>
                  </a:lnTo>
                  <a:cubicBezTo>
                    <a:pt x="6882384" y="3066288"/>
                    <a:pt x="6635115" y="3313430"/>
                    <a:pt x="6330188" y="3313430"/>
                  </a:cubicBezTo>
                  <a:lnTo>
                    <a:pt x="552196" y="3313430"/>
                  </a:lnTo>
                  <a:cubicBezTo>
                    <a:pt x="247269" y="3313430"/>
                    <a:pt x="0" y="3066288"/>
                    <a:pt x="0" y="2761234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id="72" name="Group 18"/>
          <p:cNvGrpSpPr/>
          <p:nvPr/>
        </p:nvGrpSpPr>
        <p:grpSpPr>
          <a:xfrm rot="0">
            <a:off x="12422686" y="1990373"/>
            <a:ext cx="109814" cy="2470814"/>
            <a:chOff x="0" y="0"/>
            <a:chExt cx="146418" cy="3294418"/>
          </a:xfrm>
        </p:grpSpPr>
        <p:sp>
          <p:nvSpPr>
            <p:cNvPr id="1048692" name="Freeform 19"/>
            <p:cNvSpPr/>
            <p:nvPr/>
          </p:nvSpPr>
          <p:spPr>
            <a:xfrm rot="0" flipH="0" flipV="0">
              <a:off x="0" y="0"/>
              <a:ext cx="146431" cy="3294380"/>
            </a:xfrm>
            <a:custGeom>
              <a:avLst/>
              <a:ahLst/>
              <a:rect l="l" t="t" r="r" b="b"/>
              <a:pathLst>
                <a:path w="146431" h="3294380">
                  <a:moveTo>
                    <a:pt x="0" y="0"/>
                  </a:moveTo>
                  <a:lnTo>
                    <a:pt x="146431" y="0"/>
                  </a:lnTo>
                  <a:lnTo>
                    <a:pt x="146431" y="3294380"/>
                  </a:lnTo>
                  <a:lnTo>
                    <a:pt x="0" y="3294380"/>
                  </a:lnTo>
                  <a:close/>
                </a:path>
              </a:pathLst>
            </a:custGeom>
            <a:solidFill>
              <a:srgbClr val="162D4E"/>
            </a:solidFill>
          </p:spPr>
        </p:sp>
      </p:grpSp>
      <p:sp>
        <p:nvSpPr>
          <p:cNvPr id="1048693" name="TextBox 20"/>
          <p:cNvSpPr txBox="1"/>
          <p:nvPr/>
        </p:nvSpPr>
        <p:spPr>
          <a:xfrm rot="0">
            <a:off x="12857293" y="2198570"/>
            <a:ext cx="4346943" cy="514779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2702"/>
              </a:lnSpc>
            </a:pPr>
            <a:r>
              <a:rPr b="1" sz="2251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Easy editing</a:t>
            </a:r>
          </a:p>
        </p:txBody>
      </p:sp>
      <p:sp>
        <p:nvSpPr>
          <p:cNvPr id="1048694" name="TextBox 21"/>
          <p:cNvSpPr txBox="1"/>
          <p:nvPr/>
        </p:nvSpPr>
        <p:spPr>
          <a:xfrm rot="0">
            <a:off x="12857293" y="2849051"/>
            <a:ext cx="4346943" cy="1387964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2071"/>
              </a:lnSpc>
            </a:pPr>
            <a:r>
              <a:rPr sz="1726" lang="en-US">
                <a:solidFill>
                  <a:srgbClr val="525C6C"/>
                </a:solidFill>
                <a:latin typeface="Calibri (MS)"/>
                <a:ea typeface="Calibri (MS)"/>
                <a:cs typeface="Calibri (MS)"/>
                <a:sym typeface="Calibri (MS)"/>
              </a:rPr>
              <a:t>Allows users to review and modify text.</a:t>
            </a:r>
          </a:p>
        </p:txBody>
      </p:sp>
      <p:grpSp>
        <p:nvGrpSpPr>
          <p:cNvPr id="73" name="Group 22"/>
          <p:cNvGrpSpPr/>
          <p:nvPr/>
        </p:nvGrpSpPr>
        <p:grpSpPr>
          <a:xfrm rot="0">
            <a:off x="885092" y="5071739"/>
            <a:ext cx="5161817" cy="2485111"/>
            <a:chOff x="0" y="0"/>
            <a:chExt cx="6882422" cy="3313481"/>
          </a:xfrm>
        </p:grpSpPr>
        <p:sp>
          <p:nvSpPr>
            <p:cNvPr id="1048695" name="Freeform 23"/>
            <p:cNvSpPr/>
            <p:nvPr/>
          </p:nvSpPr>
          <p:spPr>
            <a:xfrm rot="0" flipH="0" flipV="0">
              <a:off x="0" y="0"/>
              <a:ext cx="6882384" cy="3313430"/>
            </a:xfrm>
            <a:custGeom>
              <a:avLst/>
              <a:ahLst/>
              <a:rect l="l" t="t" r="r" b="b"/>
              <a:pathLst>
                <a:path w="6882384" h="3313430">
                  <a:moveTo>
                    <a:pt x="0" y="552196"/>
                  </a:moveTo>
                  <a:cubicBezTo>
                    <a:pt x="0" y="247269"/>
                    <a:pt x="247269" y="0"/>
                    <a:pt x="552196" y="0"/>
                  </a:cubicBezTo>
                  <a:lnTo>
                    <a:pt x="6330188" y="0"/>
                  </a:lnTo>
                  <a:cubicBezTo>
                    <a:pt x="6635242" y="0"/>
                    <a:pt x="6882384" y="247269"/>
                    <a:pt x="6882384" y="552196"/>
                  </a:cubicBezTo>
                  <a:lnTo>
                    <a:pt x="6882384" y="2761234"/>
                  </a:lnTo>
                  <a:cubicBezTo>
                    <a:pt x="6882384" y="3066288"/>
                    <a:pt x="6635115" y="3313430"/>
                    <a:pt x="6330188" y="3313430"/>
                  </a:cubicBezTo>
                  <a:lnTo>
                    <a:pt x="552196" y="3313430"/>
                  </a:lnTo>
                  <a:cubicBezTo>
                    <a:pt x="247269" y="3313430"/>
                    <a:pt x="0" y="3066288"/>
                    <a:pt x="0" y="2761234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id="74" name="Group 24"/>
          <p:cNvGrpSpPr/>
          <p:nvPr/>
        </p:nvGrpSpPr>
        <p:grpSpPr>
          <a:xfrm rot="0">
            <a:off x="892235" y="5078892"/>
            <a:ext cx="109814" cy="2470814"/>
            <a:chOff x="0" y="0"/>
            <a:chExt cx="146418" cy="3294418"/>
          </a:xfrm>
        </p:grpSpPr>
        <p:sp>
          <p:nvSpPr>
            <p:cNvPr id="1048696" name="Freeform 25"/>
            <p:cNvSpPr/>
            <p:nvPr/>
          </p:nvSpPr>
          <p:spPr>
            <a:xfrm rot="0" flipH="0" flipV="0">
              <a:off x="0" y="0"/>
              <a:ext cx="146431" cy="3294380"/>
            </a:xfrm>
            <a:custGeom>
              <a:avLst/>
              <a:ahLst/>
              <a:rect l="l" t="t" r="r" b="b"/>
              <a:pathLst>
                <a:path w="146431" h="3294380">
                  <a:moveTo>
                    <a:pt x="0" y="0"/>
                  </a:moveTo>
                  <a:lnTo>
                    <a:pt x="146431" y="0"/>
                  </a:lnTo>
                  <a:lnTo>
                    <a:pt x="146431" y="3294380"/>
                  </a:lnTo>
                  <a:lnTo>
                    <a:pt x="0" y="3294380"/>
                  </a:lnTo>
                  <a:close/>
                </a:path>
              </a:pathLst>
            </a:custGeom>
            <a:solidFill>
              <a:srgbClr val="366FC4"/>
            </a:solidFill>
          </p:spPr>
        </p:sp>
      </p:grpSp>
      <p:sp>
        <p:nvSpPr>
          <p:cNvPr id="1048697" name="TextBox 26"/>
          <p:cNvSpPr txBox="1"/>
          <p:nvPr/>
        </p:nvSpPr>
        <p:spPr>
          <a:xfrm rot="0">
            <a:off x="1326842" y="5287089"/>
            <a:ext cx="4346943" cy="514779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2702"/>
              </a:lnSpc>
            </a:pPr>
            <a:r>
              <a:rPr b="1" sz="2251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Export</a:t>
            </a:r>
          </a:p>
        </p:txBody>
      </p:sp>
      <p:sp>
        <p:nvSpPr>
          <p:cNvPr id="1048698" name="TextBox 27"/>
          <p:cNvSpPr txBox="1"/>
          <p:nvPr/>
        </p:nvSpPr>
        <p:spPr>
          <a:xfrm rot="0">
            <a:off x="1326842" y="5937561"/>
            <a:ext cx="4346943" cy="1387964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2071"/>
              </a:lnSpc>
            </a:pPr>
            <a:r>
              <a:rPr sz="1726" lang="en-US">
                <a:solidFill>
                  <a:srgbClr val="525C6C"/>
                </a:solidFill>
                <a:latin typeface="Calibri (MS)"/>
                <a:ea typeface="Calibri (MS)"/>
                <a:cs typeface="Calibri (MS)"/>
                <a:sym typeface="Calibri (MS)"/>
              </a:rPr>
              <a:t>Can produce a printable/downloadable document.</a:t>
            </a:r>
          </a:p>
        </p:txBody>
      </p:sp>
      <p:grpSp>
        <p:nvGrpSpPr>
          <p:cNvPr id="75" name="Group 28"/>
          <p:cNvGrpSpPr/>
          <p:nvPr/>
        </p:nvGrpSpPr>
        <p:grpSpPr>
          <a:xfrm rot="0">
            <a:off x="6650307" y="5071739"/>
            <a:ext cx="5161817" cy="2485111"/>
            <a:chOff x="0" y="0"/>
            <a:chExt cx="6882422" cy="3313481"/>
          </a:xfrm>
        </p:grpSpPr>
        <p:sp>
          <p:nvSpPr>
            <p:cNvPr id="1048699" name="Freeform 29"/>
            <p:cNvSpPr/>
            <p:nvPr/>
          </p:nvSpPr>
          <p:spPr>
            <a:xfrm rot="0" flipH="0" flipV="0">
              <a:off x="0" y="0"/>
              <a:ext cx="6882384" cy="3313430"/>
            </a:xfrm>
            <a:custGeom>
              <a:avLst/>
              <a:ahLst/>
              <a:rect l="l" t="t" r="r" b="b"/>
              <a:pathLst>
                <a:path w="6882384" h="3313430">
                  <a:moveTo>
                    <a:pt x="0" y="552196"/>
                  </a:moveTo>
                  <a:cubicBezTo>
                    <a:pt x="0" y="247269"/>
                    <a:pt x="247269" y="0"/>
                    <a:pt x="552196" y="0"/>
                  </a:cubicBezTo>
                  <a:lnTo>
                    <a:pt x="6330188" y="0"/>
                  </a:lnTo>
                  <a:cubicBezTo>
                    <a:pt x="6635242" y="0"/>
                    <a:pt x="6882384" y="247269"/>
                    <a:pt x="6882384" y="552196"/>
                  </a:cubicBezTo>
                  <a:lnTo>
                    <a:pt x="6882384" y="2761234"/>
                  </a:lnTo>
                  <a:cubicBezTo>
                    <a:pt x="6882384" y="3066288"/>
                    <a:pt x="6635115" y="3313430"/>
                    <a:pt x="6330188" y="3313430"/>
                  </a:cubicBezTo>
                  <a:lnTo>
                    <a:pt x="552196" y="3313430"/>
                  </a:lnTo>
                  <a:cubicBezTo>
                    <a:pt x="247269" y="3313430"/>
                    <a:pt x="0" y="3066288"/>
                    <a:pt x="0" y="2761234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id="76" name="Group 30"/>
          <p:cNvGrpSpPr/>
          <p:nvPr/>
        </p:nvGrpSpPr>
        <p:grpSpPr>
          <a:xfrm rot="0">
            <a:off x="6657461" y="5078892"/>
            <a:ext cx="109814" cy="2470814"/>
            <a:chOff x="0" y="0"/>
            <a:chExt cx="146418" cy="3294418"/>
          </a:xfrm>
        </p:grpSpPr>
        <p:sp>
          <p:nvSpPr>
            <p:cNvPr id="1048700" name="Freeform 31"/>
            <p:cNvSpPr/>
            <p:nvPr/>
          </p:nvSpPr>
          <p:spPr>
            <a:xfrm rot="0" flipH="0" flipV="0">
              <a:off x="0" y="0"/>
              <a:ext cx="146431" cy="3294380"/>
            </a:xfrm>
            <a:custGeom>
              <a:avLst/>
              <a:ahLst/>
              <a:rect l="l" t="t" r="r" b="b"/>
              <a:pathLst>
                <a:path w="146431" h="3294380">
                  <a:moveTo>
                    <a:pt x="0" y="0"/>
                  </a:moveTo>
                  <a:lnTo>
                    <a:pt x="146431" y="0"/>
                  </a:lnTo>
                  <a:lnTo>
                    <a:pt x="146431" y="3294380"/>
                  </a:lnTo>
                  <a:lnTo>
                    <a:pt x="0" y="3294380"/>
                  </a:lnTo>
                  <a:close/>
                </a:path>
              </a:pathLst>
            </a:custGeom>
            <a:solidFill>
              <a:srgbClr val="269D91"/>
            </a:solidFill>
          </p:spPr>
        </p:sp>
      </p:grpSp>
      <p:sp>
        <p:nvSpPr>
          <p:cNvPr id="1048701" name="TextBox 32"/>
          <p:cNvSpPr txBox="1"/>
          <p:nvPr/>
        </p:nvSpPr>
        <p:spPr>
          <a:xfrm rot="0">
            <a:off x="7092067" y="5287089"/>
            <a:ext cx="4346943" cy="514779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2702"/>
              </a:lnSpc>
            </a:pPr>
            <a:r>
              <a:rPr b="1" sz="2251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Secure design</a:t>
            </a:r>
          </a:p>
        </p:txBody>
      </p:sp>
      <p:sp>
        <p:nvSpPr>
          <p:cNvPr id="1048702" name="TextBox 33"/>
          <p:cNvSpPr txBox="1"/>
          <p:nvPr/>
        </p:nvSpPr>
        <p:spPr>
          <a:xfrm rot="0">
            <a:off x="7092067" y="5937561"/>
            <a:ext cx="4346943" cy="1387964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2071"/>
              </a:lnSpc>
            </a:pPr>
            <a:r>
              <a:rPr sz="1726" lang="en-US">
                <a:solidFill>
                  <a:srgbClr val="525C6C"/>
                </a:solidFill>
                <a:latin typeface="Calibri (MS)"/>
                <a:ea typeface="Calibri (MS)"/>
                <a:cs typeface="Calibri (MS)"/>
                <a:sym typeface="Calibri (MS)"/>
              </a:rPr>
              <a:t>Authentication and data protection can be included.</a:t>
            </a:r>
          </a:p>
        </p:txBody>
      </p:sp>
      <p:grpSp>
        <p:nvGrpSpPr>
          <p:cNvPr id="77" name="Group 34"/>
          <p:cNvGrpSpPr/>
          <p:nvPr/>
        </p:nvGrpSpPr>
        <p:grpSpPr>
          <a:xfrm rot="0">
            <a:off x="12415533" y="5071739"/>
            <a:ext cx="5161817" cy="2485111"/>
            <a:chOff x="0" y="0"/>
            <a:chExt cx="6882422" cy="3313481"/>
          </a:xfrm>
        </p:grpSpPr>
        <p:sp>
          <p:nvSpPr>
            <p:cNvPr id="1048703" name="Freeform 35"/>
            <p:cNvSpPr/>
            <p:nvPr/>
          </p:nvSpPr>
          <p:spPr>
            <a:xfrm rot="0" flipH="0" flipV="0">
              <a:off x="0" y="0"/>
              <a:ext cx="6882384" cy="3313430"/>
            </a:xfrm>
            <a:custGeom>
              <a:avLst/>
              <a:ahLst/>
              <a:rect l="l" t="t" r="r" b="b"/>
              <a:pathLst>
                <a:path w="6882384" h="3313430">
                  <a:moveTo>
                    <a:pt x="0" y="552196"/>
                  </a:moveTo>
                  <a:cubicBezTo>
                    <a:pt x="0" y="247269"/>
                    <a:pt x="247269" y="0"/>
                    <a:pt x="552196" y="0"/>
                  </a:cubicBezTo>
                  <a:lnTo>
                    <a:pt x="6330188" y="0"/>
                  </a:lnTo>
                  <a:cubicBezTo>
                    <a:pt x="6635242" y="0"/>
                    <a:pt x="6882384" y="247269"/>
                    <a:pt x="6882384" y="552196"/>
                  </a:cubicBezTo>
                  <a:lnTo>
                    <a:pt x="6882384" y="2761234"/>
                  </a:lnTo>
                  <a:cubicBezTo>
                    <a:pt x="6882384" y="3066288"/>
                    <a:pt x="6635115" y="3313430"/>
                    <a:pt x="6330188" y="3313430"/>
                  </a:cubicBezTo>
                  <a:lnTo>
                    <a:pt x="552196" y="3313430"/>
                  </a:lnTo>
                  <a:cubicBezTo>
                    <a:pt x="247269" y="3313430"/>
                    <a:pt x="0" y="3066288"/>
                    <a:pt x="0" y="2761234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id="78" name="Group 36"/>
          <p:cNvGrpSpPr/>
          <p:nvPr/>
        </p:nvGrpSpPr>
        <p:grpSpPr>
          <a:xfrm rot="0">
            <a:off x="12422686" y="5078892"/>
            <a:ext cx="109814" cy="2470814"/>
            <a:chOff x="0" y="0"/>
            <a:chExt cx="146418" cy="3294418"/>
          </a:xfrm>
        </p:grpSpPr>
        <p:sp>
          <p:nvSpPr>
            <p:cNvPr id="1048704" name="Freeform 37"/>
            <p:cNvSpPr/>
            <p:nvPr/>
          </p:nvSpPr>
          <p:spPr>
            <a:xfrm rot="0" flipH="0" flipV="0">
              <a:off x="0" y="0"/>
              <a:ext cx="146431" cy="3294380"/>
            </a:xfrm>
            <a:custGeom>
              <a:avLst/>
              <a:ahLst/>
              <a:rect l="l" t="t" r="r" b="b"/>
              <a:pathLst>
                <a:path w="146431" h="3294380">
                  <a:moveTo>
                    <a:pt x="0" y="0"/>
                  </a:moveTo>
                  <a:lnTo>
                    <a:pt x="146431" y="0"/>
                  </a:lnTo>
                  <a:lnTo>
                    <a:pt x="146431" y="3294380"/>
                  </a:lnTo>
                  <a:lnTo>
                    <a:pt x="0" y="3294380"/>
                  </a:lnTo>
                  <a:close/>
                </a:path>
              </a:pathLst>
            </a:custGeom>
            <a:solidFill>
              <a:srgbClr val="162D4E"/>
            </a:solidFill>
          </p:spPr>
        </p:sp>
      </p:grpSp>
      <p:sp>
        <p:nvSpPr>
          <p:cNvPr id="1048705" name="TextBox 38"/>
          <p:cNvSpPr txBox="1"/>
          <p:nvPr/>
        </p:nvSpPr>
        <p:spPr>
          <a:xfrm rot="0">
            <a:off x="12857293" y="5287089"/>
            <a:ext cx="4346943" cy="514779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2702"/>
              </a:lnSpc>
            </a:pPr>
            <a:r>
              <a:rPr b="1" sz="2251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Simple interface</a:t>
            </a:r>
          </a:p>
        </p:txBody>
      </p:sp>
      <p:sp>
        <p:nvSpPr>
          <p:cNvPr id="1048706" name="TextBox 39"/>
          <p:cNvSpPr txBox="1"/>
          <p:nvPr/>
        </p:nvSpPr>
        <p:spPr>
          <a:xfrm rot="0">
            <a:off x="12857293" y="5937561"/>
            <a:ext cx="4346943" cy="1387964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2071"/>
              </a:lnSpc>
            </a:pPr>
            <a:r>
              <a:rPr sz="1726" lang="en-US">
                <a:solidFill>
                  <a:srgbClr val="525C6C"/>
                </a:solidFill>
                <a:latin typeface="Calibri (MS)"/>
                <a:ea typeface="Calibri (MS)"/>
                <a:cs typeface="Calibri (MS)"/>
                <a:sym typeface="Calibri (MS)"/>
              </a:rPr>
              <a:t>Designed for users without technical expertise.</a:t>
            </a:r>
          </a:p>
        </p:txBody>
      </p:sp>
      <p:sp>
        <p:nvSpPr>
          <p:cNvPr id="1048707" name="TextBox 40"/>
          <p:cNvSpPr txBox="1"/>
          <p:nvPr/>
        </p:nvSpPr>
        <p:spPr>
          <a:xfrm rot="0">
            <a:off x="16426244" y="9694488"/>
            <a:ext cx="640728" cy="211674"/>
          </a:xfrm>
          <a:prstGeom prst="rect"/>
        </p:spPr>
        <p:txBody>
          <a:bodyPr anchor="t" bIns="0" lIns="0" rIns="0" rtlCol="0" tIns="0">
            <a:spAutoFit/>
          </a:bodyPr>
          <a:p>
            <a:pPr algn="r">
              <a:lnSpc>
                <a:spcPts val="1621"/>
              </a:lnSpc>
            </a:pPr>
            <a:r>
              <a:rPr sz="1351" lang="en-US">
                <a:solidFill>
                  <a:srgbClr val="525C6C"/>
                </a:solidFill>
                <a:latin typeface="Calibri (MS)"/>
                <a:ea typeface="Calibri (MS)"/>
                <a:cs typeface="Calibri (MS)"/>
                <a:sym typeface="Calibri (MS)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</p:bgPr>
    </p:bg>
    <p:spTree>
      <p:nvGrpSpPr>
        <p:cNvPr id="7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8" name="TextBox 2"/>
          <p:cNvSpPr txBox="1"/>
          <p:nvPr/>
        </p:nvSpPr>
        <p:spPr>
          <a:xfrm rot="0">
            <a:off x="846411" y="344348"/>
            <a:ext cx="12033904" cy="749256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5043"/>
              </a:lnSpc>
            </a:pPr>
            <a:r>
              <a:rPr b="1" sz="4203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6. Technology Stack</a:t>
            </a:r>
          </a:p>
        </p:txBody>
      </p:sp>
      <p:sp>
        <p:nvSpPr>
          <p:cNvPr id="1048709" name="TextBox 3"/>
          <p:cNvSpPr txBox="1"/>
          <p:nvPr/>
        </p:nvSpPr>
        <p:spPr>
          <a:xfrm rot="0">
            <a:off x="887587" y="1188120"/>
            <a:ext cx="13269306" cy="495729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2161"/>
              </a:lnSpc>
            </a:pPr>
            <a:r>
              <a:rPr sz="1801" lang="en-US">
                <a:solidFill>
                  <a:srgbClr val="525C6C"/>
                </a:solidFill>
                <a:latin typeface="Calibri (MS)"/>
                <a:ea typeface="Calibri (MS)"/>
                <a:cs typeface="Calibri (MS)"/>
                <a:sym typeface="Calibri (MS)"/>
              </a:rPr>
              <a:t>Possible implementation technologies</a:t>
            </a:r>
          </a:p>
        </p:txBody>
      </p:sp>
      <p:grpSp>
        <p:nvGrpSpPr>
          <p:cNvPr id="80" name="Group 4"/>
          <p:cNvGrpSpPr/>
          <p:nvPr/>
        </p:nvGrpSpPr>
        <p:grpSpPr>
          <a:xfrm rot="0">
            <a:off x="1365523" y="1845955"/>
            <a:ext cx="3034179" cy="769268"/>
            <a:chOff x="0" y="0"/>
            <a:chExt cx="4045572" cy="1025690"/>
          </a:xfrm>
        </p:grpSpPr>
        <p:sp>
          <p:nvSpPr>
            <p:cNvPr id="1048710" name="Freeform 5"/>
            <p:cNvSpPr/>
            <p:nvPr/>
          </p:nvSpPr>
          <p:spPr>
            <a:xfrm rot="0" flipH="0" flipV="0">
              <a:off x="0" y="0"/>
              <a:ext cx="4045585" cy="1025652"/>
            </a:xfrm>
            <a:custGeom>
              <a:avLst/>
              <a:ahLst/>
              <a:rect l="l" t="t" r="r" b="b"/>
              <a:pathLst>
                <a:path w="4045585" h="1025652">
                  <a:moveTo>
                    <a:pt x="0" y="170942"/>
                  </a:moveTo>
                  <a:cubicBezTo>
                    <a:pt x="0" y="76581"/>
                    <a:pt x="76581" y="0"/>
                    <a:pt x="170942" y="0"/>
                  </a:cubicBezTo>
                  <a:lnTo>
                    <a:pt x="3874643" y="0"/>
                  </a:lnTo>
                  <a:cubicBezTo>
                    <a:pt x="3969004" y="0"/>
                    <a:pt x="4045585" y="76581"/>
                    <a:pt x="4045585" y="170942"/>
                  </a:cubicBezTo>
                  <a:lnTo>
                    <a:pt x="4045585" y="854710"/>
                  </a:lnTo>
                  <a:cubicBezTo>
                    <a:pt x="4045585" y="949071"/>
                    <a:pt x="3969004" y="1025652"/>
                    <a:pt x="3874643" y="1025652"/>
                  </a:cubicBezTo>
                  <a:lnTo>
                    <a:pt x="170942" y="1025652"/>
                  </a:lnTo>
                  <a:cubicBezTo>
                    <a:pt x="76581" y="1025652"/>
                    <a:pt x="0" y="949198"/>
                    <a:pt x="0" y="854710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1048711" name="TextBox 6"/>
          <p:cNvSpPr txBox="1"/>
          <p:nvPr/>
        </p:nvSpPr>
        <p:spPr>
          <a:xfrm rot="0">
            <a:off x="1573930" y="1970542"/>
            <a:ext cx="2617375" cy="482003"/>
          </a:xfrm>
          <a:prstGeom prst="rect"/>
        </p:spPr>
        <p:txBody>
          <a:bodyPr anchor="t" bIns="0" lIns="0" rIns="0" rtlCol="0" tIns="0">
            <a:spAutoFit/>
          </a:bodyPr>
          <a:p>
            <a:pPr algn="ctr">
              <a:lnSpc>
                <a:spcPts val="2161"/>
              </a:lnSpc>
            </a:pPr>
            <a:r>
              <a:rPr b="1" sz="1801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Frontend</a:t>
            </a:r>
          </a:p>
        </p:txBody>
      </p:sp>
      <p:grpSp>
        <p:nvGrpSpPr>
          <p:cNvPr id="81" name="Group 7"/>
          <p:cNvGrpSpPr/>
          <p:nvPr/>
        </p:nvGrpSpPr>
        <p:grpSpPr>
          <a:xfrm rot="0">
            <a:off x="4728572" y="1845955"/>
            <a:ext cx="10858414" cy="769268"/>
            <a:chOff x="0" y="0"/>
            <a:chExt cx="14477886" cy="1025690"/>
          </a:xfrm>
        </p:grpSpPr>
        <p:sp>
          <p:nvSpPr>
            <p:cNvPr id="1048712" name="Freeform 8"/>
            <p:cNvSpPr/>
            <p:nvPr/>
          </p:nvSpPr>
          <p:spPr>
            <a:xfrm rot="0" flipH="0" flipV="0">
              <a:off x="0" y="0"/>
              <a:ext cx="14477873" cy="1025652"/>
            </a:xfrm>
            <a:custGeom>
              <a:avLst/>
              <a:ahLst/>
              <a:rect l="l" t="t" r="r" b="b"/>
              <a:pathLst>
                <a:path w="14477873" h="1025652">
                  <a:moveTo>
                    <a:pt x="0" y="170942"/>
                  </a:moveTo>
                  <a:cubicBezTo>
                    <a:pt x="0" y="76581"/>
                    <a:pt x="76581" y="0"/>
                    <a:pt x="170942" y="0"/>
                  </a:cubicBezTo>
                  <a:lnTo>
                    <a:pt x="14306931" y="0"/>
                  </a:lnTo>
                  <a:cubicBezTo>
                    <a:pt x="14401293" y="0"/>
                    <a:pt x="14477873" y="76581"/>
                    <a:pt x="14477873" y="170942"/>
                  </a:cubicBezTo>
                  <a:lnTo>
                    <a:pt x="14477873" y="854710"/>
                  </a:lnTo>
                  <a:cubicBezTo>
                    <a:pt x="14477873" y="949071"/>
                    <a:pt x="14401293" y="1025652"/>
                    <a:pt x="14306931" y="1025652"/>
                  </a:cubicBezTo>
                  <a:lnTo>
                    <a:pt x="170942" y="1025652"/>
                  </a:lnTo>
                  <a:cubicBezTo>
                    <a:pt x="76581" y="1025652"/>
                    <a:pt x="0" y="949198"/>
                    <a:pt x="0" y="854710"/>
                  </a:cubicBezTo>
                  <a:close/>
                </a:path>
              </a:pathLst>
            </a:custGeom>
            <a:solidFill>
              <a:srgbClr val="EEF4FC"/>
            </a:solidFill>
            <a:ln w="14299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1048713" name="TextBox 9"/>
          <p:cNvSpPr txBox="1"/>
          <p:nvPr/>
        </p:nvSpPr>
        <p:spPr>
          <a:xfrm rot="0">
            <a:off x="4936969" y="1970542"/>
            <a:ext cx="10441600" cy="482003"/>
          </a:xfrm>
          <a:prstGeom prst="rect"/>
        </p:spPr>
        <p:txBody>
          <a:bodyPr anchor="t" bIns="0" lIns="0" rIns="0" rtlCol="0" tIns="0">
            <a:spAutoFit/>
          </a:bodyPr>
          <a:p>
            <a:pPr algn="ctr">
              <a:lnSpc>
                <a:spcPts val="2161"/>
              </a:lnSpc>
            </a:pPr>
            <a:r>
              <a:rPr b="1" sz="1801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HTML • CSS • JavaScript / React</a:t>
            </a:r>
          </a:p>
        </p:txBody>
      </p:sp>
      <p:sp>
        <p:nvSpPr>
          <p:cNvPr id="1048714" name="AutoShape 10"/>
          <p:cNvSpPr/>
          <p:nvPr/>
        </p:nvSpPr>
        <p:spPr>
          <a:xfrm rot="5080260">
            <a:off x="2677354" y="2783862"/>
            <a:ext cx="410528" cy="0"/>
          </a:xfrm>
          <a:prstGeom prst="line"/>
          <a:ln w="19050" cap="rnd">
            <a:solidFill>
              <a:srgbClr val="366FC4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82" name="Group 11"/>
          <p:cNvGrpSpPr/>
          <p:nvPr/>
        </p:nvGrpSpPr>
        <p:grpSpPr>
          <a:xfrm rot="0">
            <a:off x="1365523" y="2971552"/>
            <a:ext cx="3034179" cy="769268"/>
            <a:chOff x="0" y="0"/>
            <a:chExt cx="4045572" cy="1025690"/>
          </a:xfrm>
        </p:grpSpPr>
        <p:sp>
          <p:nvSpPr>
            <p:cNvPr id="1048715" name="Freeform 12"/>
            <p:cNvSpPr/>
            <p:nvPr/>
          </p:nvSpPr>
          <p:spPr>
            <a:xfrm rot="0" flipH="0" flipV="0">
              <a:off x="0" y="0"/>
              <a:ext cx="4045585" cy="1025652"/>
            </a:xfrm>
            <a:custGeom>
              <a:avLst/>
              <a:ahLst/>
              <a:rect l="l" t="t" r="r" b="b"/>
              <a:pathLst>
                <a:path w="4045585" h="1025652">
                  <a:moveTo>
                    <a:pt x="0" y="170942"/>
                  </a:moveTo>
                  <a:cubicBezTo>
                    <a:pt x="0" y="76581"/>
                    <a:pt x="76581" y="0"/>
                    <a:pt x="170942" y="0"/>
                  </a:cubicBezTo>
                  <a:lnTo>
                    <a:pt x="3874643" y="0"/>
                  </a:lnTo>
                  <a:cubicBezTo>
                    <a:pt x="3969004" y="0"/>
                    <a:pt x="4045585" y="76581"/>
                    <a:pt x="4045585" y="170942"/>
                  </a:cubicBezTo>
                  <a:lnTo>
                    <a:pt x="4045585" y="854710"/>
                  </a:lnTo>
                  <a:cubicBezTo>
                    <a:pt x="4045585" y="949071"/>
                    <a:pt x="3969004" y="1025652"/>
                    <a:pt x="3874643" y="1025652"/>
                  </a:cubicBezTo>
                  <a:lnTo>
                    <a:pt x="170942" y="1025652"/>
                  </a:lnTo>
                  <a:cubicBezTo>
                    <a:pt x="76581" y="1025652"/>
                    <a:pt x="0" y="949198"/>
                    <a:pt x="0" y="854710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1048716" name="TextBox 13"/>
          <p:cNvSpPr txBox="1"/>
          <p:nvPr/>
        </p:nvSpPr>
        <p:spPr>
          <a:xfrm rot="0">
            <a:off x="1573930" y="3096130"/>
            <a:ext cx="2617375" cy="482003"/>
          </a:xfrm>
          <a:prstGeom prst="rect"/>
        </p:spPr>
        <p:txBody>
          <a:bodyPr anchor="t" bIns="0" lIns="0" rIns="0" rtlCol="0" tIns="0">
            <a:spAutoFit/>
          </a:bodyPr>
          <a:p>
            <a:pPr algn="ctr">
              <a:lnSpc>
                <a:spcPts val="2161"/>
              </a:lnSpc>
            </a:pPr>
            <a:r>
              <a:rPr b="1" sz="1801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Backend</a:t>
            </a:r>
          </a:p>
        </p:txBody>
      </p:sp>
      <p:grpSp>
        <p:nvGrpSpPr>
          <p:cNvPr id="83" name="Group 14"/>
          <p:cNvGrpSpPr/>
          <p:nvPr/>
        </p:nvGrpSpPr>
        <p:grpSpPr>
          <a:xfrm rot="0">
            <a:off x="4728572" y="2971552"/>
            <a:ext cx="10858414" cy="769268"/>
            <a:chOff x="0" y="0"/>
            <a:chExt cx="14477886" cy="1025690"/>
          </a:xfrm>
        </p:grpSpPr>
        <p:sp>
          <p:nvSpPr>
            <p:cNvPr id="1048717" name="Freeform 15"/>
            <p:cNvSpPr/>
            <p:nvPr/>
          </p:nvSpPr>
          <p:spPr>
            <a:xfrm rot="0" flipH="0" flipV="0">
              <a:off x="0" y="0"/>
              <a:ext cx="14477873" cy="1025652"/>
            </a:xfrm>
            <a:custGeom>
              <a:avLst/>
              <a:ahLst/>
              <a:rect l="l" t="t" r="r" b="b"/>
              <a:pathLst>
                <a:path w="14477873" h="1025652">
                  <a:moveTo>
                    <a:pt x="0" y="170942"/>
                  </a:moveTo>
                  <a:cubicBezTo>
                    <a:pt x="0" y="76581"/>
                    <a:pt x="76581" y="0"/>
                    <a:pt x="170942" y="0"/>
                  </a:cubicBezTo>
                  <a:lnTo>
                    <a:pt x="14306931" y="0"/>
                  </a:lnTo>
                  <a:cubicBezTo>
                    <a:pt x="14401293" y="0"/>
                    <a:pt x="14477873" y="76581"/>
                    <a:pt x="14477873" y="170942"/>
                  </a:cubicBezTo>
                  <a:lnTo>
                    <a:pt x="14477873" y="854710"/>
                  </a:lnTo>
                  <a:cubicBezTo>
                    <a:pt x="14477873" y="949071"/>
                    <a:pt x="14401293" y="1025652"/>
                    <a:pt x="14306931" y="1025652"/>
                  </a:cubicBezTo>
                  <a:lnTo>
                    <a:pt x="170942" y="1025652"/>
                  </a:lnTo>
                  <a:cubicBezTo>
                    <a:pt x="76581" y="1025652"/>
                    <a:pt x="0" y="949198"/>
                    <a:pt x="0" y="854710"/>
                  </a:cubicBezTo>
                  <a:close/>
                </a:path>
              </a:pathLst>
            </a:custGeom>
            <a:solidFill>
              <a:srgbClr val="EEF4FC"/>
            </a:solidFill>
            <a:ln w="14299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1048718" name="TextBox 16"/>
          <p:cNvSpPr txBox="1"/>
          <p:nvPr/>
        </p:nvSpPr>
        <p:spPr>
          <a:xfrm rot="0">
            <a:off x="4936969" y="3096130"/>
            <a:ext cx="10441600" cy="482003"/>
          </a:xfrm>
          <a:prstGeom prst="rect"/>
        </p:spPr>
        <p:txBody>
          <a:bodyPr anchor="t" bIns="0" lIns="0" rIns="0" rtlCol="0" tIns="0">
            <a:spAutoFit/>
          </a:bodyPr>
          <a:p>
            <a:pPr algn="ctr">
              <a:lnSpc>
                <a:spcPts val="2161"/>
              </a:lnSpc>
            </a:pPr>
            <a:r>
              <a:rPr b="1" sz="1801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Python / Node.js</a:t>
            </a:r>
          </a:p>
        </p:txBody>
      </p:sp>
      <p:sp>
        <p:nvSpPr>
          <p:cNvPr id="1048719" name="AutoShape 17"/>
          <p:cNvSpPr/>
          <p:nvPr/>
        </p:nvSpPr>
        <p:spPr>
          <a:xfrm rot="5080260">
            <a:off x="2677354" y="3909451"/>
            <a:ext cx="410528" cy="0"/>
          </a:xfrm>
          <a:prstGeom prst="line"/>
          <a:ln w="19050" cap="rnd">
            <a:solidFill>
              <a:srgbClr val="366FC4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84" name="Group 18"/>
          <p:cNvGrpSpPr/>
          <p:nvPr/>
        </p:nvGrpSpPr>
        <p:grpSpPr>
          <a:xfrm rot="0">
            <a:off x="1365523" y="4097141"/>
            <a:ext cx="3034179" cy="769268"/>
            <a:chOff x="0" y="0"/>
            <a:chExt cx="4045572" cy="1025690"/>
          </a:xfrm>
        </p:grpSpPr>
        <p:sp>
          <p:nvSpPr>
            <p:cNvPr id="1048720" name="Freeform 19"/>
            <p:cNvSpPr/>
            <p:nvPr/>
          </p:nvSpPr>
          <p:spPr>
            <a:xfrm rot="0" flipH="0" flipV="0">
              <a:off x="0" y="0"/>
              <a:ext cx="4045585" cy="1025652"/>
            </a:xfrm>
            <a:custGeom>
              <a:avLst/>
              <a:ahLst/>
              <a:rect l="l" t="t" r="r" b="b"/>
              <a:pathLst>
                <a:path w="4045585" h="1025652">
                  <a:moveTo>
                    <a:pt x="0" y="170942"/>
                  </a:moveTo>
                  <a:cubicBezTo>
                    <a:pt x="0" y="76581"/>
                    <a:pt x="76581" y="0"/>
                    <a:pt x="170942" y="0"/>
                  </a:cubicBezTo>
                  <a:lnTo>
                    <a:pt x="3874643" y="0"/>
                  </a:lnTo>
                  <a:cubicBezTo>
                    <a:pt x="3969004" y="0"/>
                    <a:pt x="4045585" y="76581"/>
                    <a:pt x="4045585" y="170942"/>
                  </a:cubicBezTo>
                  <a:lnTo>
                    <a:pt x="4045585" y="854710"/>
                  </a:lnTo>
                  <a:cubicBezTo>
                    <a:pt x="4045585" y="949071"/>
                    <a:pt x="3969004" y="1025652"/>
                    <a:pt x="3874643" y="1025652"/>
                  </a:cubicBezTo>
                  <a:lnTo>
                    <a:pt x="170942" y="1025652"/>
                  </a:lnTo>
                  <a:cubicBezTo>
                    <a:pt x="76581" y="1025652"/>
                    <a:pt x="0" y="949198"/>
                    <a:pt x="0" y="854710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1048721" name="TextBox 20"/>
          <p:cNvSpPr txBox="1"/>
          <p:nvPr/>
        </p:nvSpPr>
        <p:spPr>
          <a:xfrm rot="0">
            <a:off x="1573930" y="4221728"/>
            <a:ext cx="2617375" cy="482003"/>
          </a:xfrm>
          <a:prstGeom prst="rect"/>
        </p:spPr>
        <p:txBody>
          <a:bodyPr anchor="t" bIns="0" lIns="0" rIns="0" rtlCol="0" tIns="0">
            <a:spAutoFit/>
          </a:bodyPr>
          <a:p>
            <a:pPr algn="ctr">
              <a:lnSpc>
                <a:spcPts val="2161"/>
              </a:lnSpc>
            </a:pPr>
            <a:r>
              <a:rPr b="1" sz="1801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AI Layer</a:t>
            </a:r>
          </a:p>
        </p:txBody>
      </p:sp>
      <p:grpSp>
        <p:nvGrpSpPr>
          <p:cNvPr id="85" name="Group 21"/>
          <p:cNvGrpSpPr/>
          <p:nvPr/>
        </p:nvGrpSpPr>
        <p:grpSpPr>
          <a:xfrm rot="0">
            <a:off x="4728572" y="4097141"/>
            <a:ext cx="10858414" cy="769268"/>
            <a:chOff x="0" y="0"/>
            <a:chExt cx="14477886" cy="1025690"/>
          </a:xfrm>
        </p:grpSpPr>
        <p:sp>
          <p:nvSpPr>
            <p:cNvPr id="1048722" name="Freeform 22"/>
            <p:cNvSpPr/>
            <p:nvPr/>
          </p:nvSpPr>
          <p:spPr>
            <a:xfrm rot="0" flipH="0" flipV="0">
              <a:off x="0" y="0"/>
              <a:ext cx="14477873" cy="1025652"/>
            </a:xfrm>
            <a:custGeom>
              <a:avLst/>
              <a:ahLst/>
              <a:rect l="l" t="t" r="r" b="b"/>
              <a:pathLst>
                <a:path w="14477873" h="1025652">
                  <a:moveTo>
                    <a:pt x="0" y="170942"/>
                  </a:moveTo>
                  <a:cubicBezTo>
                    <a:pt x="0" y="76581"/>
                    <a:pt x="76581" y="0"/>
                    <a:pt x="170942" y="0"/>
                  </a:cubicBezTo>
                  <a:lnTo>
                    <a:pt x="14306931" y="0"/>
                  </a:lnTo>
                  <a:cubicBezTo>
                    <a:pt x="14401293" y="0"/>
                    <a:pt x="14477873" y="76581"/>
                    <a:pt x="14477873" y="170942"/>
                  </a:cubicBezTo>
                  <a:lnTo>
                    <a:pt x="14477873" y="854710"/>
                  </a:lnTo>
                  <a:cubicBezTo>
                    <a:pt x="14477873" y="949071"/>
                    <a:pt x="14401293" y="1025652"/>
                    <a:pt x="14306931" y="1025652"/>
                  </a:cubicBezTo>
                  <a:lnTo>
                    <a:pt x="170942" y="1025652"/>
                  </a:lnTo>
                  <a:cubicBezTo>
                    <a:pt x="76581" y="1025652"/>
                    <a:pt x="0" y="949198"/>
                    <a:pt x="0" y="854710"/>
                  </a:cubicBezTo>
                  <a:close/>
                </a:path>
              </a:pathLst>
            </a:custGeom>
            <a:solidFill>
              <a:srgbClr val="EEF4FC"/>
            </a:solidFill>
            <a:ln w="14299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1048723" name="TextBox 23"/>
          <p:cNvSpPr txBox="1"/>
          <p:nvPr/>
        </p:nvSpPr>
        <p:spPr>
          <a:xfrm rot="0">
            <a:off x="4936969" y="4221728"/>
            <a:ext cx="10441600" cy="482003"/>
          </a:xfrm>
          <a:prstGeom prst="rect"/>
        </p:spPr>
        <p:txBody>
          <a:bodyPr anchor="t" bIns="0" lIns="0" rIns="0" rtlCol="0" tIns="0">
            <a:spAutoFit/>
          </a:bodyPr>
          <a:p>
            <a:pPr algn="ctr">
              <a:lnSpc>
                <a:spcPts val="2161"/>
              </a:lnSpc>
            </a:pPr>
            <a:r>
              <a:rPr b="1" sz="1801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NLP + Large Language Model</a:t>
            </a:r>
          </a:p>
        </p:txBody>
      </p:sp>
      <p:sp>
        <p:nvSpPr>
          <p:cNvPr id="1048724" name="AutoShape 24"/>
          <p:cNvSpPr/>
          <p:nvPr/>
        </p:nvSpPr>
        <p:spPr>
          <a:xfrm rot="5080260">
            <a:off x="2677354" y="5035048"/>
            <a:ext cx="410528" cy="0"/>
          </a:xfrm>
          <a:prstGeom prst="line"/>
          <a:ln w="19050" cap="rnd">
            <a:solidFill>
              <a:srgbClr val="366FC4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86" name="Group 25"/>
          <p:cNvGrpSpPr/>
          <p:nvPr/>
        </p:nvGrpSpPr>
        <p:grpSpPr>
          <a:xfrm rot="0">
            <a:off x="1365523" y="5222729"/>
            <a:ext cx="3034179" cy="769268"/>
            <a:chOff x="0" y="0"/>
            <a:chExt cx="4045572" cy="1025690"/>
          </a:xfrm>
        </p:grpSpPr>
        <p:sp>
          <p:nvSpPr>
            <p:cNvPr id="1048725" name="Freeform 26"/>
            <p:cNvSpPr/>
            <p:nvPr/>
          </p:nvSpPr>
          <p:spPr>
            <a:xfrm rot="0" flipH="0" flipV="0">
              <a:off x="0" y="0"/>
              <a:ext cx="4045585" cy="1025652"/>
            </a:xfrm>
            <a:custGeom>
              <a:avLst/>
              <a:ahLst/>
              <a:rect l="l" t="t" r="r" b="b"/>
              <a:pathLst>
                <a:path w="4045585" h="1025652">
                  <a:moveTo>
                    <a:pt x="0" y="170942"/>
                  </a:moveTo>
                  <a:cubicBezTo>
                    <a:pt x="0" y="76581"/>
                    <a:pt x="76581" y="0"/>
                    <a:pt x="170942" y="0"/>
                  </a:cubicBezTo>
                  <a:lnTo>
                    <a:pt x="3874643" y="0"/>
                  </a:lnTo>
                  <a:cubicBezTo>
                    <a:pt x="3969004" y="0"/>
                    <a:pt x="4045585" y="76581"/>
                    <a:pt x="4045585" y="170942"/>
                  </a:cubicBezTo>
                  <a:lnTo>
                    <a:pt x="4045585" y="854710"/>
                  </a:lnTo>
                  <a:cubicBezTo>
                    <a:pt x="4045585" y="949071"/>
                    <a:pt x="3969004" y="1025652"/>
                    <a:pt x="3874643" y="1025652"/>
                  </a:cubicBezTo>
                  <a:lnTo>
                    <a:pt x="170942" y="1025652"/>
                  </a:lnTo>
                  <a:cubicBezTo>
                    <a:pt x="76581" y="1025652"/>
                    <a:pt x="0" y="949198"/>
                    <a:pt x="0" y="854710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1048726" name="TextBox 27"/>
          <p:cNvSpPr txBox="1"/>
          <p:nvPr/>
        </p:nvSpPr>
        <p:spPr>
          <a:xfrm rot="0">
            <a:off x="1573930" y="5347316"/>
            <a:ext cx="2617375" cy="482003"/>
          </a:xfrm>
          <a:prstGeom prst="rect"/>
        </p:spPr>
        <p:txBody>
          <a:bodyPr anchor="t" bIns="0" lIns="0" rIns="0" rtlCol="0" tIns="0">
            <a:spAutoFit/>
          </a:bodyPr>
          <a:p>
            <a:pPr algn="ctr">
              <a:lnSpc>
                <a:spcPts val="2161"/>
              </a:lnSpc>
            </a:pPr>
            <a:r>
              <a:rPr b="1" sz="1801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Database</a:t>
            </a:r>
          </a:p>
        </p:txBody>
      </p:sp>
      <p:grpSp>
        <p:nvGrpSpPr>
          <p:cNvPr id="87" name="Group 28"/>
          <p:cNvGrpSpPr/>
          <p:nvPr/>
        </p:nvGrpSpPr>
        <p:grpSpPr>
          <a:xfrm rot="0">
            <a:off x="4728572" y="5222729"/>
            <a:ext cx="10858414" cy="769268"/>
            <a:chOff x="0" y="0"/>
            <a:chExt cx="14477886" cy="1025690"/>
          </a:xfrm>
        </p:grpSpPr>
        <p:sp>
          <p:nvSpPr>
            <p:cNvPr id="1048727" name="Freeform 29"/>
            <p:cNvSpPr/>
            <p:nvPr/>
          </p:nvSpPr>
          <p:spPr>
            <a:xfrm rot="0" flipH="0" flipV="0">
              <a:off x="0" y="0"/>
              <a:ext cx="14477873" cy="1025652"/>
            </a:xfrm>
            <a:custGeom>
              <a:avLst/>
              <a:ahLst/>
              <a:rect l="l" t="t" r="r" b="b"/>
              <a:pathLst>
                <a:path w="14477873" h="1025652">
                  <a:moveTo>
                    <a:pt x="0" y="170942"/>
                  </a:moveTo>
                  <a:cubicBezTo>
                    <a:pt x="0" y="76581"/>
                    <a:pt x="76581" y="0"/>
                    <a:pt x="170942" y="0"/>
                  </a:cubicBezTo>
                  <a:lnTo>
                    <a:pt x="14306931" y="0"/>
                  </a:lnTo>
                  <a:cubicBezTo>
                    <a:pt x="14401293" y="0"/>
                    <a:pt x="14477873" y="76581"/>
                    <a:pt x="14477873" y="170942"/>
                  </a:cubicBezTo>
                  <a:lnTo>
                    <a:pt x="14477873" y="854710"/>
                  </a:lnTo>
                  <a:cubicBezTo>
                    <a:pt x="14477873" y="949071"/>
                    <a:pt x="14401293" y="1025652"/>
                    <a:pt x="14306931" y="1025652"/>
                  </a:cubicBezTo>
                  <a:lnTo>
                    <a:pt x="170942" y="1025652"/>
                  </a:lnTo>
                  <a:cubicBezTo>
                    <a:pt x="76581" y="1025652"/>
                    <a:pt x="0" y="949198"/>
                    <a:pt x="0" y="854710"/>
                  </a:cubicBezTo>
                  <a:close/>
                </a:path>
              </a:pathLst>
            </a:custGeom>
            <a:solidFill>
              <a:srgbClr val="EEF4FC"/>
            </a:solidFill>
            <a:ln w="14299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1048728" name="TextBox 30"/>
          <p:cNvSpPr txBox="1"/>
          <p:nvPr/>
        </p:nvSpPr>
        <p:spPr>
          <a:xfrm rot="0">
            <a:off x="4936969" y="5347316"/>
            <a:ext cx="10441600" cy="482003"/>
          </a:xfrm>
          <a:prstGeom prst="rect"/>
        </p:spPr>
        <p:txBody>
          <a:bodyPr anchor="t" bIns="0" lIns="0" rIns="0" rtlCol="0" tIns="0">
            <a:spAutoFit/>
          </a:bodyPr>
          <a:p>
            <a:pPr algn="ctr">
              <a:lnSpc>
                <a:spcPts val="2161"/>
              </a:lnSpc>
            </a:pPr>
            <a:r>
              <a:rPr b="1" sz="1801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MySQL / MongoDB</a:t>
            </a:r>
          </a:p>
        </p:txBody>
      </p:sp>
      <p:sp>
        <p:nvSpPr>
          <p:cNvPr id="1048729" name="AutoShape 31"/>
          <p:cNvSpPr/>
          <p:nvPr/>
        </p:nvSpPr>
        <p:spPr>
          <a:xfrm rot="5080260">
            <a:off x="2677354" y="6160637"/>
            <a:ext cx="410528" cy="0"/>
          </a:xfrm>
          <a:prstGeom prst="line"/>
          <a:ln w="19050" cap="rnd">
            <a:solidFill>
              <a:srgbClr val="366FC4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88" name="Group 32"/>
          <p:cNvGrpSpPr/>
          <p:nvPr/>
        </p:nvGrpSpPr>
        <p:grpSpPr>
          <a:xfrm rot="0">
            <a:off x="1365523" y="6348327"/>
            <a:ext cx="3034179" cy="769268"/>
            <a:chOff x="0" y="0"/>
            <a:chExt cx="4045572" cy="1025690"/>
          </a:xfrm>
        </p:grpSpPr>
        <p:sp>
          <p:nvSpPr>
            <p:cNvPr id="1048730" name="Freeform 33"/>
            <p:cNvSpPr/>
            <p:nvPr/>
          </p:nvSpPr>
          <p:spPr>
            <a:xfrm rot="0" flipH="0" flipV="0">
              <a:off x="0" y="0"/>
              <a:ext cx="4045585" cy="1025652"/>
            </a:xfrm>
            <a:custGeom>
              <a:avLst/>
              <a:ahLst/>
              <a:rect l="l" t="t" r="r" b="b"/>
              <a:pathLst>
                <a:path w="4045585" h="1025652">
                  <a:moveTo>
                    <a:pt x="0" y="170942"/>
                  </a:moveTo>
                  <a:cubicBezTo>
                    <a:pt x="0" y="76581"/>
                    <a:pt x="76581" y="0"/>
                    <a:pt x="170942" y="0"/>
                  </a:cubicBezTo>
                  <a:lnTo>
                    <a:pt x="3874643" y="0"/>
                  </a:lnTo>
                  <a:cubicBezTo>
                    <a:pt x="3969004" y="0"/>
                    <a:pt x="4045585" y="76581"/>
                    <a:pt x="4045585" y="170942"/>
                  </a:cubicBezTo>
                  <a:lnTo>
                    <a:pt x="4045585" y="854710"/>
                  </a:lnTo>
                  <a:cubicBezTo>
                    <a:pt x="4045585" y="949071"/>
                    <a:pt x="3969004" y="1025652"/>
                    <a:pt x="3874643" y="1025652"/>
                  </a:cubicBezTo>
                  <a:lnTo>
                    <a:pt x="170942" y="1025652"/>
                  </a:lnTo>
                  <a:cubicBezTo>
                    <a:pt x="76581" y="1025652"/>
                    <a:pt x="0" y="949198"/>
                    <a:pt x="0" y="854710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1048731" name="TextBox 34"/>
          <p:cNvSpPr txBox="1"/>
          <p:nvPr/>
        </p:nvSpPr>
        <p:spPr>
          <a:xfrm rot="0">
            <a:off x="1573930" y="6472904"/>
            <a:ext cx="2617375" cy="482003"/>
          </a:xfrm>
          <a:prstGeom prst="rect"/>
        </p:spPr>
        <p:txBody>
          <a:bodyPr anchor="t" bIns="0" lIns="0" rIns="0" rtlCol="0" tIns="0">
            <a:spAutoFit/>
          </a:bodyPr>
          <a:p>
            <a:pPr algn="ctr">
              <a:lnSpc>
                <a:spcPts val="2161"/>
              </a:lnSpc>
            </a:pPr>
            <a:r>
              <a:rPr b="1" sz="1801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Document Output</a:t>
            </a:r>
          </a:p>
        </p:txBody>
      </p:sp>
      <p:grpSp>
        <p:nvGrpSpPr>
          <p:cNvPr id="89" name="Group 35"/>
          <p:cNvGrpSpPr/>
          <p:nvPr/>
        </p:nvGrpSpPr>
        <p:grpSpPr>
          <a:xfrm rot="0">
            <a:off x="4728572" y="6348327"/>
            <a:ext cx="10858414" cy="769268"/>
            <a:chOff x="0" y="0"/>
            <a:chExt cx="14477886" cy="1025690"/>
          </a:xfrm>
        </p:grpSpPr>
        <p:sp>
          <p:nvSpPr>
            <p:cNvPr id="1048732" name="Freeform 36"/>
            <p:cNvSpPr/>
            <p:nvPr/>
          </p:nvSpPr>
          <p:spPr>
            <a:xfrm rot="0" flipH="0" flipV="0">
              <a:off x="0" y="0"/>
              <a:ext cx="14477873" cy="1025652"/>
            </a:xfrm>
            <a:custGeom>
              <a:avLst/>
              <a:ahLst/>
              <a:rect l="l" t="t" r="r" b="b"/>
              <a:pathLst>
                <a:path w="14477873" h="1025652">
                  <a:moveTo>
                    <a:pt x="0" y="170942"/>
                  </a:moveTo>
                  <a:cubicBezTo>
                    <a:pt x="0" y="76581"/>
                    <a:pt x="76581" y="0"/>
                    <a:pt x="170942" y="0"/>
                  </a:cubicBezTo>
                  <a:lnTo>
                    <a:pt x="14306931" y="0"/>
                  </a:lnTo>
                  <a:cubicBezTo>
                    <a:pt x="14401293" y="0"/>
                    <a:pt x="14477873" y="76581"/>
                    <a:pt x="14477873" y="170942"/>
                  </a:cubicBezTo>
                  <a:lnTo>
                    <a:pt x="14477873" y="854710"/>
                  </a:lnTo>
                  <a:cubicBezTo>
                    <a:pt x="14477873" y="949071"/>
                    <a:pt x="14401293" y="1025652"/>
                    <a:pt x="14306931" y="1025652"/>
                  </a:cubicBezTo>
                  <a:lnTo>
                    <a:pt x="170942" y="1025652"/>
                  </a:lnTo>
                  <a:cubicBezTo>
                    <a:pt x="76581" y="1025652"/>
                    <a:pt x="0" y="949198"/>
                    <a:pt x="0" y="854710"/>
                  </a:cubicBezTo>
                  <a:close/>
                </a:path>
              </a:pathLst>
            </a:custGeom>
            <a:solidFill>
              <a:srgbClr val="EEF4FC"/>
            </a:solidFill>
            <a:ln w="14299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1048733" name="TextBox 37"/>
          <p:cNvSpPr txBox="1"/>
          <p:nvPr/>
        </p:nvSpPr>
        <p:spPr>
          <a:xfrm rot="0">
            <a:off x="4936969" y="6472904"/>
            <a:ext cx="10441600" cy="482003"/>
          </a:xfrm>
          <a:prstGeom prst="rect"/>
        </p:spPr>
        <p:txBody>
          <a:bodyPr anchor="t" bIns="0" lIns="0" rIns="0" rtlCol="0" tIns="0">
            <a:spAutoFit/>
          </a:bodyPr>
          <a:p>
            <a:pPr algn="ctr">
              <a:lnSpc>
                <a:spcPts val="2161"/>
              </a:lnSpc>
            </a:pPr>
            <a:r>
              <a:rPr b="1" sz="1801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PDF / DOCX generation</a:t>
            </a:r>
          </a:p>
        </p:txBody>
      </p:sp>
      <p:sp>
        <p:nvSpPr>
          <p:cNvPr id="1048734" name="AutoShape 38"/>
          <p:cNvSpPr/>
          <p:nvPr/>
        </p:nvSpPr>
        <p:spPr>
          <a:xfrm rot="5080260">
            <a:off x="2677354" y="7286225"/>
            <a:ext cx="410528" cy="0"/>
          </a:xfrm>
          <a:prstGeom prst="line"/>
          <a:ln w="19050" cap="rnd">
            <a:solidFill>
              <a:srgbClr val="366FC4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90" name="Group 39"/>
          <p:cNvGrpSpPr/>
          <p:nvPr/>
        </p:nvGrpSpPr>
        <p:grpSpPr>
          <a:xfrm rot="0">
            <a:off x="1365523" y="7473915"/>
            <a:ext cx="3034179" cy="769268"/>
            <a:chOff x="0" y="0"/>
            <a:chExt cx="4045572" cy="1025690"/>
          </a:xfrm>
        </p:grpSpPr>
        <p:sp>
          <p:nvSpPr>
            <p:cNvPr id="1048735" name="Freeform 40"/>
            <p:cNvSpPr/>
            <p:nvPr/>
          </p:nvSpPr>
          <p:spPr>
            <a:xfrm rot="0" flipH="0" flipV="0">
              <a:off x="0" y="0"/>
              <a:ext cx="4045585" cy="1025652"/>
            </a:xfrm>
            <a:custGeom>
              <a:avLst/>
              <a:ahLst/>
              <a:rect l="l" t="t" r="r" b="b"/>
              <a:pathLst>
                <a:path w="4045585" h="1025652">
                  <a:moveTo>
                    <a:pt x="0" y="170942"/>
                  </a:moveTo>
                  <a:cubicBezTo>
                    <a:pt x="0" y="76581"/>
                    <a:pt x="76581" y="0"/>
                    <a:pt x="170942" y="0"/>
                  </a:cubicBezTo>
                  <a:lnTo>
                    <a:pt x="3874643" y="0"/>
                  </a:lnTo>
                  <a:cubicBezTo>
                    <a:pt x="3969004" y="0"/>
                    <a:pt x="4045585" y="76581"/>
                    <a:pt x="4045585" y="170942"/>
                  </a:cubicBezTo>
                  <a:lnTo>
                    <a:pt x="4045585" y="854710"/>
                  </a:lnTo>
                  <a:cubicBezTo>
                    <a:pt x="4045585" y="949071"/>
                    <a:pt x="3969004" y="1025652"/>
                    <a:pt x="3874643" y="1025652"/>
                  </a:cubicBezTo>
                  <a:lnTo>
                    <a:pt x="170942" y="1025652"/>
                  </a:lnTo>
                  <a:cubicBezTo>
                    <a:pt x="76581" y="1025652"/>
                    <a:pt x="0" y="949198"/>
                    <a:pt x="0" y="854710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1048736" name="TextBox 41"/>
          <p:cNvSpPr txBox="1"/>
          <p:nvPr/>
        </p:nvSpPr>
        <p:spPr>
          <a:xfrm rot="0">
            <a:off x="1573930" y="7598493"/>
            <a:ext cx="2617375" cy="482003"/>
          </a:xfrm>
          <a:prstGeom prst="rect"/>
        </p:spPr>
        <p:txBody>
          <a:bodyPr anchor="t" bIns="0" lIns="0" rIns="0" rtlCol="0" tIns="0">
            <a:spAutoFit/>
          </a:bodyPr>
          <a:p>
            <a:pPr algn="ctr">
              <a:lnSpc>
                <a:spcPts val="2161"/>
              </a:lnSpc>
            </a:pPr>
            <a:r>
              <a:rPr b="1" sz="1801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Security</a:t>
            </a:r>
          </a:p>
        </p:txBody>
      </p:sp>
      <p:grpSp>
        <p:nvGrpSpPr>
          <p:cNvPr id="91" name="Group 42"/>
          <p:cNvGrpSpPr/>
          <p:nvPr/>
        </p:nvGrpSpPr>
        <p:grpSpPr>
          <a:xfrm rot="0">
            <a:off x="4728572" y="7473915"/>
            <a:ext cx="10858414" cy="769268"/>
            <a:chOff x="0" y="0"/>
            <a:chExt cx="14477886" cy="1025690"/>
          </a:xfrm>
        </p:grpSpPr>
        <p:sp>
          <p:nvSpPr>
            <p:cNvPr id="1048737" name="Freeform 43"/>
            <p:cNvSpPr/>
            <p:nvPr/>
          </p:nvSpPr>
          <p:spPr>
            <a:xfrm rot="0" flipH="0" flipV="0">
              <a:off x="0" y="0"/>
              <a:ext cx="14477873" cy="1025652"/>
            </a:xfrm>
            <a:custGeom>
              <a:avLst/>
              <a:ahLst/>
              <a:rect l="l" t="t" r="r" b="b"/>
              <a:pathLst>
                <a:path w="14477873" h="1025652">
                  <a:moveTo>
                    <a:pt x="0" y="170942"/>
                  </a:moveTo>
                  <a:cubicBezTo>
                    <a:pt x="0" y="76581"/>
                    <a:pt x="76581" y="0"/>
                    <a:pt x="170942" y="0"/>
                  </a:cubicBezTo>
                  <a:lnTo>
                    <a:pt x="14306931" y="0"/>
                  </a:lnTo>
                  <a:cubicBezTo>
                    <a:pt x="14401293" y="0"/>
                    <a:pt x="14477873" y="76581"/>
                    <a:pt x="14477873" y="170942"/>
                  </a:cubicBezTo>
                  <a:lnTo>
                    <a:pt x="14477873" y="854710"/>
                  </a:lnTo>
                  <a:cubicBezTo>
                    <a:pt x="14477873" y="949071"/>
                    <a:pt x="14401293" y="1025652"/>
                    <a:pt x="14306931" y="1025652"/>
                  </a:cubicBezTo>
                  <a:lnTo>
                    <a:pt x="170942" y="1025652"/>
                  </a:lnTo>
                  <a:cubicBezTo>
                    <a:pt x="76581" y="1025652"/>
                    <a:pt x="0" y="949198"/>
                    <a:pt x="0" y="854710"/>
                  </a:cubicBezTo>
                  <a:close/>
                </a:path>
              </a:pathLst>
            </a:custGeom>
            <a:solidFill>
              <a:srgbClr val="EEF4FC"/>
            </a:solidFill>
            <a:ln w="14299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1048738" name="TextBox 44"/>
          <p:cNvSpPr txBox="1"/>
          <p:nvPr/>
        </p:nvSpPr>
        <p:spPr>
          <a:xfrm rot="0">
            <a:off x="4936969" y="7598493"/>
            <a:ext cx="10441600" cy="482003"/>
          </a:xfrm>
          <a:prstGeom prst="rect"/>
        </p:spPr>
        <p:txBody>
          <a:bodyPr anchor="t" bIns="0" lIns="0" rIns="0" rtlCol="0" tIns="0">
            <a:spAutoFit/>
          </a:bodyPr>
          <a:p>
            <a:pPr algn="ctr">
              <a:lnSpc>
                <a:spcPts val="2161"/>
              </a:lnSpc>
            </a:pPr>
            <a:r>
              <a:rPr b="1" sz="1801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Authentication + access control</a:t>
            </a:r>
          </a:p>
        </p:txBody>
      </p:sp>
      <p:sp>
        <p:nvSpPr>
          <p:cNvPr id="1048739" name="TextBox 45"/>
          <p:cNvSpPr txBox="1"/>
          <p:nvPr/>
        </p:nvSpPr>
        <p:spPr>
          <a:xfrm rot="0">
            <a:off x="16426244" y="9694488"/>
            <a:ext cx="640728" cy="211674"/>
          </a:xfrm>
          <a:prstGeom prst="rect"/>
        </p:spPr>
        <p:txBody>
          <a:bodyPr anchor="t" bIns="0" lIns="0" rIns="0" rtlCol="0" tIns="0">
            <a:spAutoFit/>
          </a:bodyPr>
          <a:p>
            <a:pPr algn="r">
              <a:lnSpc>
                <a:spcPts val="1621"/>
              </a:lnSpc>
            </a:pPr>
            <a:r>
              <a:rPr sz="1351" lang="en-US">
                <a:solidFill>
                  <a:srgbClr val="525C6C"/>
                </a:solidFill>
                <a:latin typeface="Calibri (MS)"/>
                <a:ea typeface="Calibri (MS)"/>
                <a:cs typeface="Calibri (MS)"/>
                <a:sym typeface="Calibri (MS)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</p:bgPr>
    </p:bg>
    <p:spTree>
      <p:nvGrpSpPr>
        <p:cNvPr id="9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0" name="TextBox 2"/>
          <p:cNvSpPr txBox="1"/>
          <p:nvPr/>
        </p:nvSpPr>
        <p:spPr>
          <a:xfrm rot="0">
            <a:off x="846411" y="344348"/>
            <a:ext cx="12033904" cy="749256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5043"/>
              </a:lnSpc>
            </a:pPr>
            <a:r>
              <a:rPr b="1" sz="4203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7. Advantages</a:t>
            </a:r>
          </a:p>
        </p:txBody>
      </p:sp>
      <p:sp>
        <p:nvSpPr>
          <p:cNvPr id="1048741" name="TextBox 3"/>
          <p:cNvSpPr txBox="1"/>
          <p:nvPr/>
        </p:nvSpPr>
        <p:spPr>
          <a:xfrm rot="0">
            <a:off x="887587" y="1188120"/>
            <a:ext cx="13269306" cy="495729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2161"/>
              </a:lnSpc>
            </a:pPr>
            <a:r>
              <a:rPr sz="1801" lang="en-US">
                <a:solidFill>
                  <a:srgbClr val="525C6C"/>
                </a:solidFill>
                <a:latin typeface="Calibri (MS)"/>
                <a:ea typeface="Calibri (MS)"/>
                <a:cs typeface="Calibri (MS)"/>
                <a:sym typeface="Calibri (MS)"/>
              </a:rPr>
              <a:t>Potential benefits</a:t>
            </a:r>
          </a:p>
        </p:txBody>
      </p:sp>
      <p:grpSp>
        <p:nvGrpSpPr>
          <p:cNvPr id="93" name="Group 4"/>
          <p:cNvGrpSpPr/>
          <p:nvPr/>
        </p:nvGrpSpPr>
        <p:grpSpPr>
          <a:xfrm rot="0">
            <a:off x="1022356" y="1914592"/>
            <a:ext cx="7632630" cy="1798777"/>
            <a:chOff x="0" y="0"/>
            <a:chExt cx="10176840" cy="2398370"/>
          </a:xfrm>
        </p:grpSpPr>
        <p:sp>
          <p:nvSpPr>
            <p:cNvPr id="1048742" name="Freeform 5"/>
            <p:cNvSpPr/>
            <p:nvPr/>
          </p:nvSpPr>
          <p:spPr>
            <a:xfrm rot="0" flipH="0" flipV="0">
              <a:off x="0" y="0"/>
              <a:ext cx="10176890" cy="2398522"/>
            </a:xfrm>
            <a:custGeom>
              <a:avLst/>
              <a:ahLst/>
              <a:rect l="l" t="t" r="r" b="b"/>
              <a:pathLst>
                <a:path w="10176890" h="2398522">
                  <a:moveTo>
                    <a:pt x="0" y="399796"/>
                  </a:moveTo>
                  <a:cubicBezTo>
                    <a:pt x="0" y="178943"/>
                    <a:pt x="178943" y="0"/>
                    <a:pt x="399796" y="0"/>
                  </a:cubicBezTo>
                  <a:lnTo>
                    <a:pt x="9777095" y="0"/>
                  </a:lnTo>
                  <a:cubicBezTo>
                    <a:pt x="9997821" y="0"/>
                    <a:pt x="10176890" y="178943"/>
                    <a:pt x="10176890" y="399796"/>
                  </a:cubicBezTo>
                  <a:lnTo>
                    <a:pt x="10176890" y="1998726"/>
                  </a:lnTo>
                  <a:cubicBezTo>
                    <a:pt x="10176890" y="2219452"/>
                    <a:pt x="9997948" y="2398522"/>
                    <a:pt x="9777095" y="2398522"/>
                  </a:cubicBezTo>
                  <a:lnTo>
                    <a:pt x="399796" y="2398522"/>
                  </a:lnTo>
                  <a:cubicBezTo>
                    <a:pt x="178943" y="2398395"/>
                    <a:pt x="0" y="2219452"/>
                    <a:pt x="0" y="1998599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id="94" name="Group 6"/>
          <p:cNvGrpSpPr/>
          <p:nvPr/>
        </p:nvGrpSpPr>
        <p:grpSpPr>
          <a:xfrm rot="0">
            <a:off x="1029500" y="1921745"/>
            <a:ext cx="109814" cy="1784471"/>
            <a:chOff x="0" y="0"/>
            <a:chExt cx="146418" cy="2379294"/>
          </a:xfrm>
        </p:grpSpPr>
        <p:sp>
          <p:nvSpPr>
            <p:cNvPr id="1048743" name="Freeform 7"/>
            <p:cNvSpPr/>
            <p:nvPr/>
          </p:nvSpPr>
          <p:spPr>
            <a:xfrm rot="0" flipH="0" flipV="0">
              <a:off x="0" y="0"/>
              <a:ext cx="146431" cy="2379345"/>
            </a:xfrm>
            <a:custGeom>
              <a:avLst/>
              <a:ahLst/>
              <a:rect l="l" t="t" r="r" b="b"/>
              <a:pathLst>
                <a:path w="146431" h="2379345">
                  <a:moveTo>
                    <a:pt x="0" y="0"/>
                  </a:moveTo>
                  <a:lnTo>
                    <a:pt x="146431" y="0"/>
                  </a:lnTo>
                  <a:lnTo>
                    <a:pt x="146431" y="2379345"/>
                  </a:lnTo>
                  <a:lnTo>
                    <a:pt x="0" y="2379345"/>
                  </a:lnTo>
                  <a:close/>
                </a:path>
              </a:pathLst>
            </a:custGeom>
            <a:solidFill>
              <a:srgbClr val="366FC4"/>
            </a:solidFill>
          </p:spPr>
        </p:sp>
      </p:grpSp>
      <p:sp>
        <p:nvSpPr>
          <p:cNvPr id="1048744" name="TextBox 8"/>
          <p:cNvSpPr txBox="1"/>
          <p:nvPr/>
        </p:nvSpPr>
        <p:spPr>
          <a:xfrm rot="0">
            <a:off x="1464116" y="2129933"/>
            <a:ext cx="6817747" cy="514779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2702"/>
              </a:lnSpc>
            </a:pPr>
            <a:r>
              <a:rPr b="1" sz="2251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Faster</a:t>
            </a:r>
          </a:p>
        </p:txBody>
      </p:sp>
      <p:sp>
        <p:nvSpPr>
          <p:cNvPr id="1048745" name="TextBox 9"/>
          <p:cNvSpPr txBox="1"/>
          <p:nvPr/>
        </p:nvSpPr>
        <p:spPr>
          <a:xfrm rot="0">
            <a:off x="1464116" y="2780414"/>
            <a:ext cx="6817747" cy="701631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2071"/>
              </a:lnSpc>
            </a:pPr>
            <a:r>
              <a:rPr sz="1726" lang="en-US">
                <a:solidFill>
                  <a:srgbClr val="525C6C"/>
                </a:solidFill>
                <a:latin typeface="Calibri (MS)"/>
                <a:ea typeface="Calibri (MS)"/>
                <a:cs typeface="Calibri (MS)"/>
                <a:sym typeface="Calibri (MS)"/>
              </a:rPr>
              <a:t>Reduces repetitive drafting work.</a:t>
            </a:r>
          </a:p>
        </p:txBody>
      </p:sp>
      <p:grpSp>
        <p:nvGrpSpPr>
          <p:cNvPr id="95" name="Group 10"/>
          <p:cNvGrpSpPr/>
          <p:nvPr/>
        </p:nvGrpSpPr>
        <p:grpSpPr>
          <a:xfrm rot="0">
            <a:off x="9464288" y="1914592"/>
            <a:ext cx="7632630" cy="1798777"/>
            <a:chOff x="0" y="0"/>
            <a:chExt cx="10176840" cy="2398370"/>
          </a:xfrm>
        </p:grpSpPr>
        <p:sp>
          <p:nvSpPr>
            <p:cNvPr id="1048746" name="Freeform 11"/>
            <p:cNvSpPr/>
            <p:nvPr/>
          </p:nvSpPr>
          <p:spPr>
            <a:xfrm rot="0" flipH="0" flipV="0">
              <a:off x="0" y="0"/>
              <a:ext cx="10176890" cy="2398522"/>
            </a:xfrm>
            <a:custGeom>
              <a:avLst/>
              <a:ahLst/>
              <a:rect l="l" t="t" r="r" b="b"/>
              <a:pathLst>
                <a:path w="10176890" h="2398522">
                  <a:moveTo>
                    <a:pt x="0" y="399796"/>
                  </a:moveTo>
                  <a:cubicBezTo>
                    <a:pt x="0" y="178943"/>
                    <a:pt x="178943" y="0"/>
                    <a:pt x="399796" y="0"/>
                  </a:cubicBezTo>
                  <a:lnTo>
                    <a:pt x="9777095" y="0"/>
                  </a:lnTo>
                  <a:cubicBezTo>
                    <a:pt x="9997821" y="0"/>
                    <a:pt x="10176890" y="178943"/>
                    <a:pt x="10176890" y="399796"/>
                  </a:cubicBezTo>
                  <a:lnTo>
                    <a:pt x="10176890" y="1998726"/>
                  </a:lnTo>
                  <a:cubicBezTo>
                    <a:pt x="10176890" y="2219452"/>
                    <a:pt x="9997948" y="2398522"/>
                    <a:pt x="9777095" y="2398522"/>
                  </a:cubicBezTo>
                  <a:lnTo>
                    <a:pt x="399796" y="2398522"/>
                  </a:lnTo>
                  <a:cubicBezTo>
                    <a:pt x="178943" y="2398395"/>
                    <a:pt x="0" y="2219452"/>
                    <a:pt x="0" y="1998599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id="96" name="Group 12"/>
          <p:cNvGrpSpPr/>
          <p:nvPr/>
        </p:nvGrpSpPr>
        <p:grpSpPr>
          <a:xfrm rot="0">
            <a:off x="9471441" y="1921745"/>
            <a:ext cx="109814" cy="1784471"/>
            <a:chOff x="0" y="0"/>
            <a:chExt cx="146418" cy="2379294"/>
          </a:xfrm>
        </p:grpSpPr>
        <p:sp>
          <p:nvSpPr>
            <p:cNvPr id="1048747" name="Freeform 13"/>
            <p:cNvSpPr/>
            <p:nvPr/>
          </p:nvSpPr>
          <p:spPr>
            <a:xfrm rot="0" flipH="0" flipV="0">
              <a:off x="0" y="0"/>
              <a:ext cx="146431" cy="2379345"/>
            </a:xfrm>
            <a:custGeom>
              <a:avLst/>
              <a:ahLst/>
              <a:rect l="l" t="t" r="r" b="b"/>
              <a:pathLst>
                <a:path w="146431" h="2379345">
                  <a:moveTo>
                    <a:pt x="0" y="0"/>
                  </a:moveTo>
                  <a:lnTo>
                    <a:pt x="146431" y="0"/>
                  </a:lnTo>
                  <a:lnTo>
                    <a:pt x="146431" y="2379345"/>
                  </a:lnTo>
                  <a:lnTo>
                    <a:pt x="0" y="2379345"/>
                  </a:lnTo>
                  <a:close/>
                </a:path>
              </a:pathLst>
            </a:custGeom>
            <a:solidFill>
              <a:srgbClr val="269D91"/>
            </a:solidFill>
          </p:spPr>
        </p:sp>
      </p:grpSp>
      <p:sp>
        <p:nvSpPr>
          <p:cNvPr id="1048748" name="TextBox 14"/>
          <p:cNvSpPr txBox="1"/>
          <p:nvPr/>
        </p:nvSpPr>
        <p:spPr>
          <a:xfrm rot="0">
            <a:off x="9906048" y="2129933"/>
            <a:ext cx="6817747" cy="514779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2702"/>
              </a:lnSpc>
            </a:pPr>
            <a:r>
              <a:rPr b="1" sz="2251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Accessible</a:t>
            </a:r>
          </a:p>
        </p:txBody>
      </p:sp>
      <p:sp>
        <p:nvSpPr>
          <p:cNvPr id="1048749" name="TextBox 15"/>
          <p:cNvSpPr txBox="1"/>
          <p:nvPr/>
        </p:nvSpPr>
        <p:spPr>
          <a:xfrm rot="0">
            <a:off x="9906048" y="2780414"/>
            <a:ext cx="6817747" cy="701631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2071"/>
              </a:lnSpc>
            </a:pPr>
            <a:r>
              <a:rPr sz="1726" lang="en-US">
                <a:solidFill>
                  <a:srgbClr val="525C6C"/>
                </a:solidFill>
                <a:latin typeface="Calibri (MS)"/>
                <a:ea typeface="Calibri (MS)"/>
                <a:cs typeface="Calibri (MS)"/>
                <a:sym typeface="Calibri (MS)"/>
              </a:rPr>
              <a:t>Makes basic drafting easier to approach.</a:t>
            </a:r>
          </a:p>
        </p:txBody>
      </p:sp>
      <p:grpSp>
        <p:nvGrpSpPr>
          <p:cNvPr id="97" name="Group 16"/>
          <p:cNvGrpSpPr/>
          <p:nvPr/>
        </p:nvGrpSpPr>
        <p:grpSpPr>
          <a:xfrm rot="0">
            <a:off x="1022356" y="4248131"/>
            <a:ext cx="7632630" cy="1798777"/>
            <a:chOff x="0" y="0"/>
            <a:chExt cx="10176840" cy="2398370"/>
          </a:xfrm>
        </p:grpSpPr>
        <p:sp>
          <p:nvSpPr>
            <p:cNvPr id="1048750" name="Freeform 17"/>
            <p:cNvSpPr/>
            <p:nvPr/>
          </p:nvSpPr>
          <p:spPr>
            <a:xfrm rot="0" flipH="0" flipV="0">
              <a:off x="0" y="0"/>
              <a:ext cx="10176890" cy="2398522"/>
            </a:xfrm>
            <a:custGeom>
              <a:avLst/>
              <a:ahLst/>
              <a:rect l="l" t="t" r="r" b="b"/>
              <a:pathLst>
                <a:path w="10176890" h="2398522">
                  <a:moveTo>
                    <a:pt x="0" y="399796"/>
                  </a:moveTo>
                  <a:cubicBezTo>
                    <a:pt x="0" y="178943"/>
                    <a:pt x="178943" y="0"/>
                    <a:pt x="399796" y="0"/>
                  </a:cubicBezTo>
                  <a:lnTo>
                    <a:pt x="9777095" y="0"/>
                  </a:lnTo>
                  <a:cubicBezTo>
                    <a:pt x="9997821" y="0"/>
                    <a:pt x="10176890" y="178943"/>
                    <a:pt x="10176890" y="399796"/>
                  </a:cubicBezTo>
                  <a:lnTo>
                    <a:pt x="10176890" y="1998726"/>
                  </a:lnTo>
                  <a:cubicBezTo>
                    <a:pt x="10176890" y="2219452"/>
                    <a:pt x="9997948" y="2398522"/>
                    <a:pt x="9777095" y="2398522"/>
                  </a:cubicBezTo>
                  <a:lnTo>
                    <a:pt x="399796" y="2398522"/>
                  </a:lnTo>
                  <a:cubicBezTo>
                    <a:pt x="178943" y="2398395"/>
                    <a:pt x="0" y="2219452"/>
                    <a:pt x="0" y="1998599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id="98" name="Group 18"/>
          <p:cNvGrpSpPr/>
          <p:nvPr/>
        </p:nvGrpSpPr>
        <p:grpSpPr>
          <a:xfrm rot="0">
            <a:off x="1029500" y="4255284"/>
            <a:ext cx="109814" cy="1784471"/>
            <a:chOff x="0" y="0"/>
            <a:chExt cx="146418" cy="2379294"/>
          </a:xfrm>
        </p:grpSpPr>
        <p:sp>
          <p:nvSpPr>
            <p:cNvPr id="1048751" name="Freeform 19"/>
            <p:cNvSpPr/>
            <p:nvPr/>
          </p:nvSpPr>
          <p:spPr>
            <a:xfrm rot="0" flipH="0" flipV="0">
              <a:off x="0" y="0"/>
              <a:ext cx="146431" cy="2379345"/>
            </a:xfrm>
            <a:custGeom>
              <a:avLst/>
              <a:ahLst/>
              <a:rect l="l" t="t" r="r" b="b"/>
              <a:pathLst>
                <a:path w="146431" h="2379345">
                  <a:moveTo>
                    <a:pt x="0" y="0"/>
                  </a:moveTo>
                  <a:lnTo>
                    <a:pt x="146431" y="0"/>
                  </a:lnTo>
                  <a:lnTo>
                    <a:pt x="146431" y="2379345"/>
                  </a:lnTo>
                  <a:lnTo>
                    <a:pt x="0" y="2379345"/>
                  </a:lnTo>
                  <a:close/>
                </a:path>
              </a:pathLst>
            </a:custGeom>
            <a:solidFill>
              <a:srgbClr val="162D4E"/>
            </a:solidFill>
          </p:spPr>
        </p:sp>
      </p:grpSp>
      <p:sp>
        <p:nvSpPr>
          <p:cNvPr id="1048752" name="TextBox 20"/>
          <p:cNvSpPr txBox="1"/>
          <p:nvPr/>
        </p:nvSpPr>
        <p:spPr>
          <a:xfrm rot="0">
            <a:off x="1464116" y="4463482"/>
            <a:ext cx="6817747" cy="514779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2702"/>
              </a:lnSpc>
            </a:pPr>
            <a:r>
              <a:rPr b="1" sz="2251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Consistent</a:t>
            </a:r>
          </a:p>
        </p:txBody>
      </p:sp>
      <p:sp>
        <p:nvSpPr>
          <p:cNvPr id="1048753" name="TextBox 21"/>
          <p:cNvSpPr txBox="1"/>
          <p:nvPr/>
        </p:nvSpPr>
        <p:spPr>
          <a:xfrm rot="0">
            <a:off x="1464116" y="5113963"/>
            <a:ext cx="6817747" cy="701631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2071"/>
              </a:lnSpc>
            </a:pPr>
            <a:r>
              <a:rPr sz="1726" lang="en-US">
                <a:solidFill>
                  <a:srgbClr val="525C6C"/>
                </a:solidFill>
                <a:latin typeface="Calibri (MS)"/>
                <a:ea typeface="Calibri (MS)"/>
                <a:cs typeface="Calibri (MS)"/>
                <a:sym typeface="Calibri (MS)"/>
              </a:rPr>
              <a:t>Uses structured templates.</a:t>
            </a:r>
          </a:p>
        </p:txBody>
      </p:sp>
      <p:grpSp>
        <p:nvGrpSpPr>
          <p:cNvPr id="99" name="Group 22"/>
          <p:cNvGrpSpPr/>
          <p:nvPr/>
        </p:nvGrpSpPr>
        <p:grpSpPr>
          <a:xfrm rot="0">
            <a:off x="9464288" y="4248131"/>
            <a:ext cx="7632630" cy="1798777"/>
            <a:chOff x="0" y="0"/>
            <a:chExt cx="10176840" cy="2398370"/>
          </a:xfrm>
        </p:grpSpPr>
        <p:sp>
          <p:nvSpPr>
            <p:cNvPr id="1048754" name="Freeform 23"/>
            <p:cNvSpPr/>
            <p:nvPr/>
          </p:nvSpPr>
          <p:spPr>
            <a:xfrm rot="0" flipH="0" flipV="0">
              <a:off x="0" y="0"/>
              <a:ext cx="10176890" cy="2398522"/>
            </a:xfrm>
            <a:custGeom>
              <a:avLst/>
              <a:ahLst/>
              <a:rect l="l" t="t" r="r" b="b"/>
              <a:pathLst>
                <a:path w="10176890" h="2398522">
                  <a:moveTo>
                    <a:pt x="0" y="399796"/>
                  </a:moveTo>
                  <a:cubicBezTo>
                    <a:pt x="0" y="178943"/>
                    <a:pt x="178943" y="0"/>
                    <a:pt x="399796" y="0"/>
                  </a:cubicBezTo>
                  <a:lnTo>
                    <a:pt x="9777095" y="0"/>
                  </a:lnTo>
                  <a:cubicBezTo>
                    <a:pt x="9997821" y="0"/>
                    <a:pt x="10176890" y="178943"/>
                    <a:pt x="10176890" y="399796"/>
                  </a:cubicBezTo>
                  <a:lnTo>
                    <a:pt x="10176890" y="1998726"/>
                  </a:lnTo>
                  <a:cubicBezTo>
                    <a:pt x="10176890" y="2219452"/>
                    <a:pt x="9997948" y="2398522"/>
                    <a:pt x="9777095" y="2398522"/>
                  </a:cubicBezTo>
                  <a:lnTo>
                    <a:pt x="399796" y="2398522"/>
                  </a:lnTo>
                  <a:cubicBezTo>
                    <a:pt x="178943" y="2398395"/>
                    <a:pt x="0" y="2219452"/>
                    <a:pt x="0" y="1998599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id="100" name="Group 24"/>
          <p:cNvGrpSpPr/>
          <p:nvPr/>
        </p:nvGrpSpPr>
        <p:grpSpPr>
          <a:xfrm rot="0">
            <a:off x="9471441" y="4255284"/>
            <a:ext cx="109814" cy="1784471"/>
            <a:chOff x="0" y="0"/>
            <a:chExt cx="146418" cy="2379294"/>
          </a:xfrm>
        </p:grpSpPr>
        <p:sp>
          <p:nvSpPr>
            <p:cNvPr id="1048755" name="Freeform 25"/>
            <p:cNvSpPr/>
            <p:nvPr/>
          </p:nvSpPr>
          <p:spPr>
            <a:xfrm rot="0" flipH="0" flipV="0">
              <a:off x="0" y="0"/>
              <a:ext cx="146431" cy="2379345"/>
            </a:xfrm>
            <a:custGeom>
              <a:avLst/>
              <a:ahLst/>
              <a:rect l="l" t="t" r="r" b="b"/>
              <a:pathLst>
                <a:path w="146431" h="2379345">
                  <a:moveTo>
                    <a:pt x="0" y="0"/>
                  </a:moveTo>
                  <a:lnTo>
                    <a:pt x="146431" y="0"/>
                  </a:lnTo>
                  <a:lnTo>
                    <a:pt x="146431" y="2379345"/>
                  </a:lnTo>
                  <a:lnTo>
                    <a:pt x="0" y="2379345"/>
                  </a:lnTo>
                  <a:close/>
                </a:path>
              </a:pathLst>
            </a:custGeom>
            <a:solidFill>
              <a:srgbClr val="366FC4"/>
            </a:solidFill>
          </p:spPr>
        </p:sp>
      </p:grpSp>
      <p:sp>
        <p:nvSpPr>
          <p:cNvPr id="1048756" name="TextBox 26"/>
          <p:cNvSpPr txBox="1"/>
          <p:nvPr/>
        </p:nvSpPr>
        <p:spPr>
          <a:xfrm rot="0">
            <a:off x="9906048" y="4463482"/>
            <a:ext cx="6817747" cy="514779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2702"/>
              </a:lnSpc>
            </a:pPr>
            <a:r>
              <a:rPr b="1" sz="2251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Convenient</a:t>
            </a:r>
          </a:p>
        </p:txBody>
      </p:sp>
      <p:sp>
        <p:nvSpPr>
          <p:cNvPr id="1048757" name="TextBox 27"/>
          <p:cNvSpPr txBox="1"/>
          <p:nvPr/>
        </p:nvSpPr>
        <p:spPr>
          <a:xfrm rot="0">
            <a:off x="9906048" y="5113963"/>
            <a:ext cx="6817747" cy="701631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2071"/>
              </a:lnSpc>
            </a:pPr>
            <a:r>
              <a:rPr sz="1726" lang="en-US">
                <a:solidFill>
                  <a:srgbClr val="525C6C"/>
                </a:solidFill>
                <a:latin typeface="Calibri (MS)"/>
                <a:ea typeface="Calibri (MS)"/>
                <a:cs typeface="Calibri (MS)"/>
                <a:sym typeface="Calibri (MS)"/>
              </a:rPr>
              <a:t>Supports editing and export.</a:t>
            </a:r>
          </a:p>
        </p:txBody>
      </p:sp>
      <p:grpSp>
        <p:nvGrpSpPr>
          <p:cNvPr id="101" name="Group 28"/>
          <p:cNvGrpSpPr/>
          <p:nvPr/>
        </p:nvGrpSpPr>
        <p:grpSpPr>
          <a:xfrm rot="0">
            <a:off x="1022356" y="6581680"/>
            <a:ext cx="7632630" cy="1798777"/>
            <a:chOff x="0" y="0"/>
            <a:chExt cx="10176840" cy="2398370"/>
          </a:xfrm>
        </p:grpSpPr>
        <p:sp>
          <p:nvSpPr>
            <p:cNvPr id="1048758" name="Freeform 29"/>
            <p:cNvSpPr/>
            <p:nvPr/>
          </p:nvSpPr>
          <p:spPr>
            <a:xfrm rot="0" flipH="0" flipV="0">
              <a:off x="0" y="0"/>
              <a:ext cx="10176890" cy="2398522"/>
            </a:xfrm>
            <a:custGeom>
              <a:avLst/>
              <a:ahLst/>
              <a:rect l="l" t="t" r="r" b="b"/>
              <a:pathLst>
                <a:path w="10176890" h="2398522">
                  <a:moveTo>
                    <a:pt x="0" y="399796"/>
                  </a:moveTo>
                  <a:cubicBezTo>
                    <a:pt x="0" y="178943"/>
                    <a:pt x="178943" y="0"/>
                    <a:pt x="399796" y="0"/>
                  </a:cubicBezTo>
                  <a:lnTo>
                    <a:pt x="9777095" y="0"/>
                  </a:lnTo>
                  <a:cubicBezTo>
                    <a:pt x="9997821" y="0"/>
                    <a:pt x="10176890" y="178943"/>
                    <a:pt x="10176890" y="399796"/>
                  </a:cubicBezTo>
                  <a:lnTo>
                    <a:pt x="10176890" y="1998726"/>
                  </a:lnTo>
                  <a:cubicBezTo>
                    <a:pt x="10176890" y="2219452"/>
                    <a:pt x="9997948" y="2398522"/>
                    <a:pt x="9777095" y="2398522"/>
                  </a:cubicBezTo>
                  <a:lnTo>
                    <a:pt x="399796" y="2398522"/>
                  </a:lnTo>
                  <a:cubicBezTo>
                    <a:pt x="178943" y="2398395"/>
                    <a:pt x="0" y="2219452"/>
                    <a:pt x="0" y="1998599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id="102" name="Group 30"/>
          <p:cNvGrpSpPr/>
          <p:nvPr/>
        </p:nvGrpSpPr>
        <p:grpSpPr>
          <a:xfrm rot="0">
            <a:off x="1029500" y="6588824"/>
            <a:ext cx="109814" cy="1784471"/>
            <a:chOff x="0" y="0"/>
            <a:chExt cx="146418" cy="2379294"/>
          </a:xfrm>
        </p:grpSpPr>
        <p:sp>
          <p:nvSpPr>
            <p:cNvPr id="1048759" name="Freeform 31"/>
            <p:cNvSpPr/>
            <p:nvPr/>
          </p:nvSpPr>
          <p:spPr>
            <a:xfrm rot="0" flipH="0" flipV="0">
              <a:off x="0" y="0"/>
              <a:ext cx="146431" cy="2379345"/>
            </a:xfrm>
            <a:custGeom>
              <a:avLst/>
              <a:ahLst/>
              <a:rect l="l" t="t" r="r" b="b"/>
              <a:pathLst>
                <a:path w="146431" h="2379345">
                  <a:moveTo>
                    <a:pt x="0" y="0"/>
                  </a:moveTo>
                  <a:lnTo>
                    <a:pt x="146431" y="0"/>
                  </a:lnTo>
                  <a:lnTo>
                    <a:pt x="146431" y="2379345"/>
                  </a:lnTo>
                  <a:lnTo>
                    <a:pt x="0" y="2379345"/>
                  </a:lnTo>
                  <a:close/>
                </a:path>
              </a:pathLst>
            </a:custGeom>
            <a:solidFill>
              <a:srgbClr val="269D91"/>
            </a:solidFill>
          </p:spPr>
        </p:sp>
      </p:grpSp>
      <p:sp>
        <p:nvSpPr>
          <p:cNvPr id="1048760" name="TextBox 32"/>
          <p:cNvSpPr txBox="1"/>
          <p:nvPr/>
        </p:nvSpPr>
        <p:spPr>
          <a:xfrm rot="0">
            <a:off x="1464116" y="6797021"/>
            <a:ext cx="6817747" cy="514779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2702"/>
              </a:lnSpc>
            </a:pPr>
            <a:r>
              <a:rPr b="1" sz="2251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Scalable</a:t>
            </a:r>
          </a:p>
        </p:txBody>
      </p:sp>
      <p:sp>
        <p:nvSpPr>
          <p:cNvPr id="1048761" name="TextBox 33"/>
          <p:cNvSpPr txBox="1"/>
          <p:nvPr/>
        </p:nvSpPr>
        <p:spPr>
          <a:xfrm rot="0">
            <a:off x="1464116" y="7447502"/>
            <a:ext cx="6817747" cy="701631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2071"/>
              </a:lnSpc>
            </a:pPr>
            <a:r>
              <a:rPr sz="1726" lang="en-US">
                <a:solidFill>
                  <a:srgbClr val="525C6C"/>
                </a:solidFill>
                <a:latin typeface="Calibri (MS)"/>
                <a:ea typeface="Calibri (MS)"/>
                <a:cs typeface="Calibri (MS)"/>
                <a:sym typeface="Calibri (MS)"/>
              </a:rPr>
              <a:t>New templates can be added.</a:t>
            </a:r>
          </a:p>
        </p:txBody>
      </p:sp>
      <p:grpSp>
        <p:nvGrpSpPr>
          <p:cNvPr id="103" name="Group 34"/>
          <p:cNvGrpSpPr/>
          <p:nvPr/>
        </p:nvGrpSpPr>
        <p:grpSpPr>
          <a:xfrm rot="0">
            <a:off x="9464288" y="6581680"/>
            <a:ext cx="7632630" cy="1798777"/>
            <a:chOff x="0" y="0"/>
            <a:chExt cx="10176840" cy="2398370"/>
          </a:xfrm>
        </p:grpSpPr>
        <p:sp>
          <p:nvSpPr>
            <p:cNvPr id="1048762" name="Freeform 35"/>
            <p:cNvSpPr/>
            <p:nvPr/>
          </p:nvSpPr>
          <p:spPr>
            <a:xfrm rot="0" flipH="0" flipV="0">
              <a:off x="0" y="0"/>
              <a:ext cx="10176890" cy="2398522"/>
            </a:xfrm>
            <a:custGeom>
              <a:avLst/>
              <a:ahLst/>
              <a:rect l="l" t="t" r="r" b="b"/>
              <a:pathLst>
                <a:path w="10176890" h="2398522">
                  <a:moveTo>
                    <a:pt x="0" y="399796"/>
                  </a:moveTo>
                  <a:cubicBezTo>
                    <a:pt x="0" y="178943"/>
                    <a:pt x="178943" y="0"/>
                    <a:pt x="399796" y="0"/>
                  </a:cubicBezTo>
                  <a:lnTo>
                    <a:pt x="9777095" y="0"/>
                  </a:lnTo>
                  <a:cubicBezTo>
                    <a:pt x="9997821" y="0"/>
                    <a:pt x="10176890" y="178943"/>
                    <a:pt x="10176890" y="399796"/>
                  </a:cubicBezTo>
                  <a:lnTo>
                    <a:pt x="10176890" y="1998726"/>
                  </a:lnTo>
                  <a:cubicBezTo>
                    <a:pt x="10176890" y="2219452"/>
                    <a:pt x="9997948" y="2398522"/>
                    <a:pt x="9777095" y="2398522"/>
                  </a:cubicBezTo>
                  <a:lnTo>
                    <a:pt x="399796" y="2398522"/>
                  </a:lnTo>
                  <a:cubicBezTo>
                    <a:pt x="178943" y="2398395"/>
                    <a:pt x="0" y="2219452"/>
                    <a:pt x="0" y="1998599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id="104" name="Group 36"/>
          <p:cNvGrpSpPr/>
          <p:nvPr/>
        </p:nvGrpSpPr>
        <p:grpSpPr>
          <a:xfrm rot="0">
            <a:off x="9471441" y="6588824"/>
            <a:ext cx="109814" cy="1784471"/>
            <a:chOff x="0" y="0"/>
            <a:chExt cx="146418" cy="2379294"/>
          </a:xfrm>
        </p:grpSpPr>
        <p:sp>
          <p:nvSpPr>
            <p:cNvPr id="1048763" name="Freeform 37"/>
            <p:cNvSpPr/>
            <p:nvPr/>
          </p:nvSpPr>
          <p:spPr>
            <a:xfrm rot="0" flipH="0" flipV="0">
              <a:off x="0" y="0"/>
              <a:ext cx="146431" cy="2379345"/>
            </a:xfrm>
            <a:custGeom>
              <a:avLst/>
              <a:ahLst/>
              <a:rect l="l" t="t" r="r" b="b"/>
              <a:pathLst>
                <a:path w="146431" h="2379345">
                  <a:moveTo>
                    <a:pt x="0" y="0"/>
                  </a:moveTo>
                  <a:lnTo>
                    <a:pt x="146431" y="0"/>
                  </a:lnTo>
                  <a:lnTo>
                    <a:pt x="146431" y="2379345"/>
                  </a:lnTo>
                  <a:lnTo>
                    <a:pt x="0" y="2379345"/>
                  </a:lnTo>
                  <a:close/>
                </a:path>
              </a:pathLst>
            </a:custGeom>
            <a:solidFill>
              <a:srgbClr val="162D4E"/>
            </a:solidFill>
          </p:spPr>
        </p:sp>
      </p:grpSp>
      <p:sp>
        <p:nvSpPr>
          <p:cNvPr id="1048764" name="TextBox 38"/>
          <p:cNvSpPr txBox="1"/>
          <p:nvPr/>
        </p:nvSpPr>
        <p:spPr>
          <a:xfrm rot="0">
            <a:off x="9906048" y="6797021"/>
            <a:ext cx="6817747" cy="514779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2702"/>
              </a:lnSpc>
            </a:pPr>
            <a:r>
              <a:rPr b="1" sz="2251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Assistive</a:t>
            </a:r>
          </a:p>
        </p:txBody>
      </p:sp>
      <p:sp>
        <p:nvSpPr>
          <p:cNvPr id="1048765" name="TextBox 39"/>
          <p:cNvSpPr txBox="1"/>
          <p:nvPr/>
        </p:nvSpPr>
        <p:spPr>
          <a:xfrm rot="0">
            <a:off x="9906048" y="7447502"/>
            <a:ext cx="6817747" cy="701631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2071"/>
              </a:lnSpc>
            </a:pPr>
            <a:r>
              <a:rPr sz="1726" lang="en-US">
                <a:solidFill>
                  <a:srgbClr val="525C6C"/>
                </a:solidFill>
                <a:latin typeface="Calibri (MS)"/>
                <a:ea typeface="Calibri (MS)"/>
                <a:cs typeface="Calibri (MS)"/>
                <a:sym typeface="Calibri (MS)"/>
              </a:rPr>
              <a:t>Provides a starting draft for review.</a:t>
            </a:r>
          </a:p>
        </p:txBody>
      </p:sp>
      <p:grpSp>
        <p:nvGrpSpPr>
          <p:cNvPr id="105" name="Group 40"/>
          <p:cNvGrpSpPr/>
          <p:nvPr/>
        </p:nvGrpSpPr>
        <p:grpSpPr>
          <a:xfrm rot="0">
            <a:off x="4454033" y="8709317"/>
            <a:ext cx="9348473" cy="769268"/>
            <a:chOff x="0" y="0"/>
            <a:chExt cx="12464631" cy="1025690"/>
          </a:xfrm>
        </p:grpSpPr>
        <p:sp>
          <p:nvSpPr>
            <p:cNvPr id="1048766" name="Freeform 41"/>
            <p:cNvSpPr/>
            <p:nvPr/>
          </p:nvSpPr>
          <p:spPr>
            <a:xfrm rot="0" flipH="0" flipV="0">
              <a:off x="0" y="0"/>
              <a:ext cx="12464669" cy="1025652"/>
            </a:xfrm>
            <a:custGeom>
              <a:avLst/>
              <a:ahLst/>
              <a:rect l="l" t="t" r="r" b="b"/>
              <a:pathLst>
                <a:path w="12464669" h="1025652">
                  <a:moveTo>
                    <a:pt x="0" y="170942"/>
                  </a:moveTo>
                  <a:cubicBezTo>
                    <a:pt x="0" y="76581"/>
                    <a:pt x="76581" y="0"/>
                    <a:pt x="170942" y="0"/>
                  </a:cubicBezTo>
                  <a:lnTo>
                    <a:pt x="12293727" y="0"/>
                  </a:lnTo>
                  <a:cubicBezTo>
                    <a:pt x="12388088" y="0"/>
                    <a:pt x="12464669" y="76581"/>
                    <a:pt x="12464669" y="170942"/>
                  </a:cubicBezTo>
                  <a:lnTo>
                    <a:pt x="12464669" y="854710"/>
                  </a:lnTo>
                  <a:cubicBezTo>
                    <a:pt x="12464669" y="949071"/>
                    <a:pt x="12388088" y="1025652"/>
                    <a:pt x="12293727" y="1025652"/>
                  </a:cubicBezTo>
                  <a:lnTo>
                    <a:pt x="170942" y="1025652"/>
                  </a:lnTo>
                  <a:cubicBezTo>
                    <a:pt x="76581" y="1025652"/>
                    <a:pt x="0" y="949198"/>
                    <a:pt x="0" y="854710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1048767" name="TextBox 42"/>
          <p:cNvSpPr txBox="1"/>
          <p:nvPr/>
        </p:nvSpPr>
        <p:spPr>
          <a:xfrm rot="0">
            <a:off x="4662440" y="8833904"/>
            <a:ext cx="8931669" cy="482003"/>
          </a:xfrm>
          <a:prstGeom prst="rect"/>
        </p:spPr>
        <p:txBody>
          <a:bodyPr anchor="t" bIns="0" lIns="0" rIns="0" rtlCol="0" tIns="0">
            <a:spAutoFit/>
          </a:bodyPr>
          <a:p>
            <a:pPr algn="ctr">
              <a:lnSpc>
                <a:spcPts val="2161"/>
              </a:lnSpc>
            </a:pPr>
            <a:r>
              <a:rPr b="1" sz="1801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AI ASSISTS — HUMAN REVIEW REMAINS IMPORTANT</a:t>
            </a:r>
          </a:p>
        </p:txBody>
      </p:sp>
      <p:sp>
        <p:nvSpPr>
          <p:cNvPr id="1048768" name="TextBox 43"/>
          <p:cNvSpPr txBox="1"/>
          <p:nvPr/>
        </p:nvSpPr>
        <p:spPr>
          <a:xfrm rot="0">
            <a:off x="16426244" y="9694488"/>
            <a:ext cx="640728" cy="211674"/>
          </a:xfrm>
          <a:prstGeom prst="rect"/>
        </p:spPr>
        <p:txBody>
          <a:bodyPr anchor="t" bIns="0" lIns="0" rIns="0" rtlCol="0" tIns="0">
            <a:spAutoFit/>
          </a:bodyPr>
          <a:p>
            <a:pPr algn="r">
              <a:lnSpc>
                <a:spcPts val="1621"/>
              </a:lnSpc>
            </a:pPr>
            <a:r>
              <a:rPr sz="1351" lang="en-US">
                <a:solidFill>
                  <a:srgbClr val="525C6C"/>
                </a:solidFill>
                <a:latin typeface="Calibri (MS)"/>
                <a:ea typeface="Calibri (MS)"/>
                <a:cs typeface="Calibri (MS)"/>
                <a:sym typeface="Calibri (MS)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</p:bgPr>
    </p:bg>
    <p:spTree>
      <p:nvGrpSpPr>
        <p:cNvPr id="10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9" name="TextBox 2"/>
          <p:cNvSpPr txBox="1"/>
          <p:nvPr/>
        </p:nvSpPr>
        <p:spPr>
          <a:xfrm rot="0">
            <a:off x="846411" y="344348"/>
            <a:ext cx="12033904" cy="749256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5043"/>
              </a:lnSpc>
            </a:pPr>
            <a:r>
              <a:rPr b="1" sz="4203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8. Future Scope</a:t>
            </a:r>
          </a:p>
        </p:txBody>
      </p:sp>
      <p:sp>
        <p:nvSpPr>
          <p:cNvPr id="1048770" name="TextBox 3"/>
          <p:cNvSpPr txBox="1"/>
          <p:nvPr/>
        </p:nvSpPr>
        <p:spPr>
          <a:xfrm rot="0">
            <a:off x="887587" y="1188120"/>
            <a:ext cx="13269306" cy="495729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2161"/>
              </a:lnSpc>
            </a:pPr>
            <a:r>
              <a:rPr sz="1801" lang="en-US">
                <a:solidFill>
                  <a:srgbClr val="525C6C"/>
                </a:solidFill>
                <a:latin typeface="Calibri (MS)"/>
                <a:ea typeface="Calibri (MS)"/>
                <a:cs typeface="Calibri (MS)"/>
                <a:sym typeface="Calibri (MS)"/>
              </a:rPr>
              <a:t>Possible enhancements</a:t>
            </a:r>
          </a:p>
        </p:txBody>
      </p:sp>
      <p:grpSp>
        <p:nvGrpSpPr>
          <p:cNvPr id="107" name="Group 4"/>
          <p:cNvGrpSpPr/>
          <p:nvPr/>
        </p:nvGrpSpPr>
        <p:grpSpPr>
          <a:xfrm rot="0">
            <a:off x="816454" y="3287268"/>
            <a:ext cx="2965542" cy="1386973"/>
            <a:chOff x="0" y="0"/>
            <a:chExt cx="3954056" cy="1849298"/>
          </a:xfrm>
        </p:grpSpPr>
        <p:sp>
          <p:nvSpPr>
            <p:cNvPr id="1048771" name="Freeform 5"/>
            <p:cNvSpPr/>
            <p:nvPr/>
          </p:nvSpPr>
          <p:spPr>
            <a:xfrm rot="0" flipH="0" flipV="0">
              <a:off x="0" y="0"/>
              <a:ext cx="3954018" cy="1849247"/>
            </a:xfrm>
            <a:custGeom>
              <a:avLst/>
              <a:ahLst/>
              <a:rect l="l" t="t" r="r" b="b"/>
              <a:pathLst>
                <a:path w="3954018" h="1849247">
                  <a:moveTo>
                    <a:pt x="0" y="308229"/>
                  </a:moveTo>
                  <a:cubicBezTo>
                    <a:pt x="0" y="138049"/>
                    <a:pt x="138049" y="0"/>
                    <a:pt x="308229" y="0"/>
                  </a:cubicBezTo>
                  <a:lnTo>
                    <a:pt x="3645789" y="0"/>
                  </a:lnTo>
                  <a:cubicBezTo>
                    <a:pt x="3815969" y="0"/>
                    <a:pt x="3954018" y="138049"/>
                    <a:pt x="3954018" y="308229"/>
                  </a:cubicBezTo>
                  <a:lnTo>
                    <a:pt x="3954018" y="1541018"/>
                  </a:lnTo>
                  <a:cubicBezTo>
                    <a:pt x="3954018" y="1711198"/>
                    <a:pt x="3815969" y="1849247"/>
                    <a:pt x="3645789" y="1849247"/>
                  </a:cubicBezTo>
                  <a:lnTo>
                    <a:pt x="308229" y="1849247"/>
                  </a:lnTo>
                  <a:cubicBezTo>
                    <a:pt x="138049" y="1849247"/>
                    <a:pt x="0" y="1711325"/>
                    <a:pt x="0" y="1541018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1048772" name="TextBox 6"/>
          <p:cNvSpPr txBox="1"/>
          <p:nvPr/>
        </p:nvSpPr>
        <p:spPr>
          <a:xfrm rot="0">
            <a:off x="1024861" y="3402320"/>
            <a:ext cx="2548738" cy="1109234"/>
          </a:xfrm>
          <a:prstGeom prst="rect"/>
        </p:spPr>
        <p:txBody>
          <a:bodyPr anchor="t" bIns="0" lIns="0" rIns="0" rtlCol="0" tIns="0">
            <a:spAutoFit/>
          </a:bodyPr>
          <a:p>
            <a:pPr algn="ctr">
              <a:lnSpc>
                <a:spcPts val="2521"/>
              </a:lnSpc>
            </a:pPr>
            <a:r>
              <a:rPr b="1" sz="2101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VOICE</a:t>
            </a:r>
          </a:p>
          <a:p>
            <a:pPr algn="ctr">
              <a:lnSpc>
                <a:spcPts val="2521"/>
              </a:lnSpc>
            </a:pPr>
            <a:r>
              <a:rPr b="1" sz="2101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INPUT</a:t>
            </a:r>
          </a:p>
        </p:txBody>
      </p:sp>
      <p:grpSp>
        <p:nvGrpSpPr>
          <p:cNvPr id="108" name="Group 7"/>
          <p:cNvGrpSpPr/>
          <p:nvPr/>
        </p:nvGrpSpPr>
        <p:grpSpPr>
          <a:xfrm rot="0">
            <a:off x="4385405" y="3287268"/>
            <a:ext cx="2965542" cy="1386973"/>
            <a:chOff x="0" y="0"/>
            <a:chExt cx="3954056" cy="1849298"/>
          </a:xfrm>
        </p:grpSpPr>
        <p:sp>
          <p:nvSpPr>
            <p:cNvPr id="1048773" name="Freeform 8"/>
            <p:cNvSpPr/>
            <p:nvPr/>
          </p:nvSpPr>
          <p:spPr>
            <a:xfrm rot="0" flipH="0" flipV="0">
              <a:off x="0" y="0"/>
              <a:ext cx="3954018" cy="1849247"/>
            </a:xfrm>
            <a:custGeom>
              <a:avLst/>
              <a:ahLst/>
              <a:rect l="l" t="t" r="r" b="b"/>
              <a:pathLst>
                <a:path w="3954018" h="1849247">
                  <a:moveTo>
                    <a:pt x="0" y="308229"/>
                  </a:moveTo>
                  <a:cubicBezTo>
                    <a:pt x="0" y="138049"/>
                    <a:pt x="138049" y="0"/>
                    <a:pt x="308229" y="0"/>
                  </a:cubicBezTo>
                  <a:lnTo>
                    <a:pt x="3645789" y="0"/>
                  </a:lnTo>
                  <a:cubicBezTo>
                    <a:pt x="3815969" y="0"/>
                    <a:pt x="3954018" y="138049"/>
                    <a:pt x="3954018" y="308229"/>
                  </a:cubicBezTo>
                  <a:lnTo>
                    <a:pt x="3954018" y="1541018"/>
                  </a:lnTo>
                  <a:cubicBezTo>
                    <a:pt x="3954018" y="1711198"/>
                    <a:pt x="3815969" y="1849247"/>
                    <a:pt x="3645789" y="1849247"/>
                  </a:cubicBezTo>
                  <a:lnTo>
                    <a:pt x="308229" y="1849247"/>
                  </a:lnTo>
                  <a:cubicBezTo>
                    <a:pt x="138049" y="1849247"/>
                    <a:pt x="0" y="1711325"/>
                    <a:pt x="0" y="1541018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1048774" name="TextBox 9"/>
          <p:cNvSpPr txBox="1"/>
          <p:nvPr/>
        </p:nvSpPr>
        <p:spPr>
          <a:xfrm rot="0">
            <a:off x="4593803" y="3402320"/>
            <a:ext cx="2548738" cy="1109234"/>
          </a:xfrm>
          <a:prstGeom prst="rect"/>
        </p:spPr>
        <p:txBody>
          <a:bodyPr anchor="t" bIns="0" lIns="0" rIns="0" rtlCol="0" tIns="0">
            <a:spAutoFit/>
          </a:bodyPr>
          <a:p>
            <a:pPr algn="ctr">
              <a:lnSpc>
                <a:spcPts val="2521"/>
              </a:lnSpc>
            </a:pPr>
            <a:r>
              <a:rPr b="1" sz="2101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MULTI-</a:t>
            </a:r>
          </a:p>
          <a:p>
            <a:pPr algn="ctr">
              <a:lnSpc>
                <a:spcPts val="2521"/>
              </a:lnSpc>
            </a:pPr>
            <a:r>
              <a:rPr b="1" sz="2101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LANGUAGE</a:t>
            </a:r>
          </a:p>
        </p:txBody>
      </p:sp>
      <p:grpSp>
        <p:nvGrpSpPr>
          <p:cNvPr id="109" name="Group 10"/>
          <p:cNvGrpSpPr/>
          <p:nvPr/>
        </p:nvGrpSpPr>
        <p:grpSpPr>
          <a:xfrm rot="0">
            <a:off x="7954347" y="3287268"/>
            <a:ext cx="2965542" cy="1386973"/>
            <a:chOff x="0" y="0"/>
            <a:chExt cx="3954056" cy="1849298"/>
          </a:xfrm>
        </p:grpSpPr>
        <p:sp>
          <p:nvSpPr>
            <p:cNvPr id="1048775" name="Freeform 11"/>
            <p:cNvSpPr/>
            <p:nvPr/>
          </p:nvSpPr>
          <p:spPr>
            <a:xfrm rot="0" flipH="0" flipV="0">
              <a:off x="0" y="0"/>
              <a:ext cx="3954018" cy="1849247"/>
            </a:xfrm>
            <a:custGeom>
              <a:avLst/>
              <a:ahLst/>
              <a:rect l="l" t="t" r="r" b="b"/>
              <a:pathLst>
                <a:path w="3954018" h="1849247">
                  <a:moveTo>
                    <a:pt x="0" y="308229"/>
                  </a:moveTo>
                  <a:cubicBezTo>
                    <a:pt x="0" y="138049"/>
                    <a:pt x="138049" y="0"/>
                    <a:pt x="308229" y="0"/>
                  </a:cubicBezTo>
                  <a:lnTo>
                    <a:pt x="3645789" y="0"/>
                  </a:lnTo>
                  <a:cubicBezTo>
                    <a:pt x="3815969" y="0"/>
                    <a:pt x="3954018" y="138049"/>
                    <a:pt x="3954018" y="308229"/>
                  </a:cubicBezTo>
                  <a:lnTo>
                    <a:pt x="3954018" y="1541018"/>
                  </a:lnTo>
                  <a:cubicBezTo>
                    <a:pt x="3954018" y="1711198"/>
                    <a:pt x="3815969" y="1849247"/>
                    <a:pt x="3645789" y="1849247"/>
                  </a:cubicBezTo>
                  <a:lnTo>
                    <a:pt x="308229" y="1849247"/>
                  </a:lnTo>
                  <a:cubicBezTo>
                    <a:pt x="138049" y="1849247"/>
                    <a:pt x="0" y="1711325"/>
                    <a:pt x="0" y="1541018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1048776" name="TextBox 12"/>
          <p:cNvSpPr txBox="1"/>
          <p:nvPr/>
        </p:nvSpPr>
        <p:spPr>
          <a:xfrm rot="0">
            <a:off x="8162754" y="3402320"/>
            <a:ext cx="2548738" cy="1109234"/>
          </a:xfrm>
          <a:prstGeom prst="rect"/>
        </p:spPr>
        <p:txBody>
          <a:bodyPr anchor="t" bIns="0" lIns="0" rIns="0" rtlCol="0" tIns="0">
            <a:spAutoFit/>
          </a:bodyPr>
          <a:p>
            <a:pPr algn="ctr">
              <a:lnSpc>
                <a:spcPts val="2521"/>
              </a:lnSpc>
            </a:pPr>
            <a:r>
              <a:rPr b="1" sz="2101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E-SIGNATURE</a:t>
            </a:r>
          </a:p>
        </p:txBody>
      </p:sp>
      <p:grpSp>
        <p:nvGrpSpPr>
          <p:cNvPr id="110" name="Group 13"/>
          <p:cNvGrpSpPr/>
          <p:nvPr/>
        </p:nvGrpSpPr>
        <p:grpSpPr>
          <a:xfrm rot="0">
            <a:off x="11523297" y="3287268"/>
            <a:ext cx="2965542" cy="1386973"/>
            <a:chOff x="0" y="0"/>
            <a:chExt cx="3954056" cy="1849298"/>
          </a:xfrm>
        </p:grpSpPr>
        <p:sp>
          <p:nvSpPr>
            <p:cNvPr id="1048777" name="Freeform 14"/>
            <p:cNvSpPr/>
            <p:nvPr/>
          </p:nvSpPr>
          <p:spPr>
            <a:xfrm rot="0" flipH="0" flipV="0">
              <a:off x="0" y="0"/>
              <a:ext cx="3954018" cy="1849247"/>
            </a:xfrm>
            <a:custGeom>
              <a:avLst/>
              <a:ahLst/>
              <a:rect l="l" t="t" r="r" b="b"/>
              <a:pathLst>
                <a:path w="3954018" h="1849247">
                  <a:moveTo>
                    <a:pt x="0" y="308229"/>
                  </a:moveTo>
                  <a:cubicBezTo>
                    <a:pt x="0" y="138049"/>
                    <a:pt x="138049" y="0"/>
                    <a:pt x="308229" y="0"/>
                  </a:cubicBezTo>
                  <a:lnTo>
                    <a:pt x="3645789" y="0"/>
                  </a:lnTo>
                  <a:cubicBezTo>
                    <a:pt x="3815969" y="0"/>
                    <a:pt x="3954018" y="138049"/>
                    <a:pt x="3954018" y="308229"/>
                  </a:cubicBezTo>
                  <a:lnTo>
                    <a:pt x="3954018" y="1541018"/>
                  </a:lnTo>
                  <a:cubicBezTo>
                    <a:pt x="3954018" y="1711198"/>
                    <a:pt x="3815969" y="1849247"/>
                    <a:pt x="3645789" y="1849247"/>
                  </a:cubicBezTo>
                  <a:lnTo>
                    <a:pt x="308229" y="1849247"/>
                  </a:lnTo>
                  <a:cubicBezTo>
                    <a:pt x="138049" y="1849247"/>
                    <a:pt x="0" y="1711325"/>
                    <a:pt x="0" y="1541018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1048778" name="TextBox 15"/>
          <p:cNvSpPr txBox="1"/>
          <p:nvPr/>
        </p:nvSpPr>
        <p:spPr>
          <a:xfrm rot="0">
            <a:off x="11731704" y="3402320"/>
            <a:ext cx="2548738" cy="1109234"/>
          </a:xfrm>
          <a:prstGeom prst="rect"/>
        </p:spPr>
        <p:txBody>
          <a:bodyPr anchor="t" bIns="0" lIns="0" rIns="0" rtlCol="0" tIns="0">
            <a:spAutoFit/>
          </a:bodyPr>
          <a:p>
            <a:pPr algn="ctr">
              <a:lnSpc>
                <a:spcPts val="2521"/>
              </a:lnSpc>
            </a:pPr>
            <a:r>
              <a:rPr b="1" sz="2101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MOBILE</a:t>
            </a:r>
          </a:p>
          <a:p>
            <a:pPr algn="ctr">
              <a:lnSpc>
                <a:spcPts val="2521"/>
              </a:lnSpc>
            </a:pPr>
            <a:r>
              <a:rPr b="1" sz="2101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APP</a:t>
            </a:r>
          </a:p>
        </p:txBody>
      </p:sp>
      <p:grpSp>
        <p:nvGrpSpPr>
          <p:cNvPr id="111" name="Group 16"/>
          <p:cNvGrpSpPr/>
          <p:nvPr/>
        </p:nvGrpSpPr>
        <p:grpSpPr>
          <a:xfrm rot="0">
            <a:off x="15092248" y="3287268"/>
            <a:ext cx="2347846" cy="1386973"/>
            <a:chOff x="0" y="0"/>
            <a:chExt cx="3130461" cy="1849298"/>
          </a:xfrm>
        </p:grpSpPr>
        <p:sp>
          <p:nvSpPr>
            <p:cNvPr id="1048779" name="Freeform 17"/>
            <p:cNvSpPr/>
            <p:nvPr/>
          </p:nvSpPr>
          <p:spPr>
            <a:xfrm rot="0" flipH="0" flipV="0">
              <a:off x="0" y="0"/>
              <a:ext cx="3130423" cy="1849247"/>
            </a:xfrm>
            <a:custGeom>
              <a:avLst/>
              <a:ahLst/>
              <a:rect l="l" t="t" r="r" b="b"/>
              <a:pathLst>
                <a:path w="3130423" h="1849247">
                  <a:moveTo>
                    <a:pt x="0" y="308229"/>
                  </a:moveTo>
                  <a:cubicBezTo>
                    <a:pt x="0" y="138049"/>
                    <a:pt x="138049" y="0"/>
                    <a:pt x="308229" y="0"/>
                  </a:cubicBezTo>
                  <a:lnTo>
                    <a:pt x="2822194" y="0"/>
                  </a:lnTo>
                  <a:cubicBezTo>
                    <a:pt x="2992374" y="0"/>
                    <a:pt x="3130423" y="138049"/>
                    <a:pt x="3130423" y="308229"/>
                  </a:cubicBezTo>
                  <a:lnTo>
                    <a:pt x="3130423" y="1541018"/>
                  </a:lnTo>
                  <a:cubicBezTo>
                    <a:pt x="3130423" y="1711198"/>
                    <a:pt x="2992374" y="1849247"/>
                    <a:pt x="2822194" y="1849247"/>
                  </a:cubicBezTo>
                  <a:lnTo>
                    <a:pt x="308229" y="1849247"/>
                  </a:lnTo>
                  <a:cubicBezTo>
                    <a:pt x="138049" y="1849247"/>
                    <a:pt x="0" y="1711325"/>
                    <a:pt x="0" y="1541018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1048780" name="TextBox 18"/>
          <p:cNvSpPr txBox="1"/>
          <p:nvPr/>
        </p:nvSpPr>
        <p:spPr>
          <a:xfrm rot="0">
            <a:off x="15300646" y="3402320"/>
            <a:ext cx="1931032" cy="1109234"/>
          </a:xfrm>
          <a:prstGeom prst="rect"/>
        </p:spPr>
        <p:txBody>
          <a:bodyPr anchor="t" bIns="0" lIns="0" rIns="0" rtlCol="0" tIns="0">
            <a:spAutoFit/>
          </a:bodyPr>
          <a:p>
            <a:pPr algn="ctr">
              <a:lnSpc>
                <a:spcPts val="2341"/>
              </a:lnSpc>
            </a:pPr>
            <a:r>
              <a:rPr b="1" sz="1951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SMART</a:t>
            </a:r>
          </a:p>
          <a:p>
            <a:pPr algn="ctr">
              <a:lnSpc>
                <a:spcPts val="2341"/>
              </a:lnSpc>
            </a:pPr>
            <a:r>
              <a:rPr b="1" sz="1951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CHECK</a:t>
            </a:r>
          </a:p>
        </p:txBody>
      </p:sp>
      <p:sp>
        <p:nvSpPr>
          <p:cNvPr id="1048781" name="AutoShape 19"/>
          <p:cNvSpPr/>
          <p:nvPr/>
        </p:nvSpPr>
        <p:spPr>
          <a:xfrm rot="199620">
            <a:off x="3755231" y="3971230"/>
            <a:ext cx="656939" cy="0"/>
          </a:xfrm>
          <a:prstGeom prst="line"/>
          <a:ln w="19050" cap="rnd">
            <a:solidFill>
              <a:srgbClr val="366FC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48782" name="AutoShape 20"/>
          <p:cNvSpPr/>
          <p:nvPr/>
        </p:nvSpPr>
        <p:spPr>
          <a:xfrm rot="199620">
            <a:off x="7324182" y="3971230"/>
            <a:ext cx="656939" cy="0"/>
          </a:xfrm>
          <a:prstGeom prst="line"/>
          <a:ln w="19050" cap="rnd">
            <a:solidFill>
              <a:srgbClr val="366FC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48783" name="AutoShape 21"/>
          <p:cNvSpPr/>
          <p:nvPr/>
        </p:nvSpPr>
        <p:spPr>
          <a:xfrm rot="199620">
            <a:off x="10893123" y="3971230"/>
            <a:ext cx="656939" cy="0"/>
          </a:xfrm>
          <a:prstGeom prst="line"/>
          <a:ln w="19050" cap="rnd">
            <a:solidFill>
              <a:srgbClr val="366FC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48784" name="AutoShape 22"/>
          <p:cNvSpPr/>
          <p:nvPr/>
        </p:nvSpPr>
        <p:spPr>
          <a:xfrm rot="199620">
            <a:off x="14462074" y="3971230"/>
            <a:ext cx="656939" cy="0"/>
          </a:xfrm>
          <a:prstGeom prst="line"/>
          <a:ln w="19050" cap="rnd">
            <a:solidFill>
              <a:srgbClr val="366FC4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12" name="Group 23"/>
          <p:cNvGrpSpPr/>
          <p:nvPr/>
        </p:nvGrpSpPr>
        <p:grpSpPr>
          <a:xfrm rot="0">
            <a:off x="2738199" y="6238513"/>
            <a:ext cx="13054689" cy="1730140"/>
            <a:chOff x="0" y="0"/>
            <a:chExt cx="17406252" cy="2306853"/>
          </a:xfrm>
        </p:grpSpPr>
        <p:sp>
          <p:nvSpPr>
            <p:cNvPr id="1048785" name="Freeform 24"/>
            <p:cNvSpPr/>
            <p:nvPr/>
          </p:nvSpPr>
          <p:spPr>
            <a:xfrm rot="0" flipH="0" flipV="0">
              <a:off x="0" y="0"/>
              <a:ext cx="17406240" cy="2306828"/>
            </a:xfrm>
            <a:custGeom>
              <a:avLst/>
              <a:ahLst/>
              <a:rect l="l" t="t" r="r" b="b"/>
              <a:pathLst>
                <a:path w="17406240" h="2306828">
                  <a:moveTo>
                    <a:pt x="0" y="384429"/>
                  </a:moveTo>
                  <a:cubicBezTo>
                    <a:pt x="0" y="172085"/>
                    <a:pt x="172085" y="0"/>
                    <a:pt x="384429" y="0"/>
                  </a:cubicBezTo>
                  <a:lnTo>
                    <a:pt x="17021811" y="0"/>
                  </a:lnTo>
                  <a:cubicBezTo>
                    <a:pt x="17234154" y="0"/>
                    <a:pt x="17406240" y="172085"/>
                    <a:pt x="17406240" y="384429"/>
                  </a:cubicBezTo>
                  <a:lnTo>
                    <a:pt x="17406240" y="1922399"/>
                  </a:lnTo>
                  <a:cubicBezTo>
                    <a:pt x="17406240" y="2134743"/>
                    <a:pt x="17234154" y="2306828"/>
                    <a:pt x="17021811" y="2306828"/>
                  </a:cubicBezTo>
                  <a:lnTo>
                    <a:pt x="384429" y="2306828"/>
                  </a:lnTo>
                  <a:cubicBezTo>
                    <a:pt x="172085" y="2306828"/>
                    <a:pt x="0" y="2134743"/>
                    <a:pt x="0" y="1922399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id="113" name="Group 25"/>
          <p:cNvGrpSpPr/>
          <p:nvPr/>
        </p:nvGrpSpPr>
        <p:grpSpPr>
          <a:xfrm rot="0">
            <a:off x="2745343" y="6245657"/>
            <a:ext cx="109814" cy="1715843"/>
            <a:chOff x="0" y="0"/>
            <a:chExt cx="146418" cy="2287791"/>
          </a:xfrm>
        </p:grpSpPr>
        <p:sp>
          <p:nvSpPr>
            <p:cNvPr id="1048786" name="Freeform 26"/>
            <p:cNvSpPr/>
            <p:nvPr/>
          </p:nvSpPr>
          <p:spPr>
            <a:xfrm rot="0" flipH="0" flipV="0">
              <a:off x="0" y="0"/>
              <a:ext cx="146431" cy="2287778"/>
            </a:xfrm>
            <a:custGeom>
              <a:avLst/>
              <a:ahLst/>
              <a:rect l="l" t="t" r="r" b="b"/>
              <a:pathLst>
                <a:path w="146431" h="2287778">
                  <a:moveTo>
                    <a:pt x="0" y="0"/>
                  </a:moveTo>
                  <a:lnTo>
                    <a:pt x="146431" y="0"/>
                  </a:lnTo>
                  <a:lnTo>
                    <a:pt x="146431" y="2287778"/>
                  </a:lnTo>
                  <a:lnTo>
                    <a:pt x="0" y="2287778"/>
                  </a:lnTo>
                  <a:close/>
                </a:path>
              </a:pathLst>
            </a:custGeom>
            <a:solidFill>
              <a:srgbClr val="366FC4"/>
            </a:solidFill>
          </p:spPr>
        </p:sp>
      </p:grpSp>
      <p:sp>
        <p:nvSpPr>
          <p:cNvPr id="1048787" name="TextBox 27"/>
          <p:cNvSpPr txBox="1"/>
          <p:nvPr/>
        </p:nvSpPr>
        <p:spPr>
          <a:xfrm rot="0">
            <a:off x="3179950" y="6453854"/>
            <a:ext cx="12239806" cy="514779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2702"/>
              </a:lnSpc>
            </a:pPr>
            <a:r>
              <a:rPr b="1" sz="2251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Future vision</a:t>
            </a:r>
          </a:p>
        </p:txBody>
      </p:sp>
      <p:sp>
        <p:nvSpPr>
          <p:cNvPr id="1048788" name="TextBox 28"/>
          <p:cNvSpPr txBox="1"/>
          <p:nvPr/>
        </p:nvSpPr>
        <p:spPr>
          <a:xfrm rot="0">
            <a:off x="3179950" y="7104336"/>
            <a:ext cx="12239806" cy="632993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2071"/>
              </a:lnSpc>
            </a:pPr>
            <a:r>
              <a:rPr sz="1726" lang="en-US">
                <a:solidFill>
                  <a:srgbClr val="525C6C"/>
                </a:solidFill>
                <a:latin typeface="Calibri (MS)"/>
                <a:ea typeface="Calibri (MS)"/>
                <a:cs typeface="Calibri (MS)"/>
                <a:sym typeface="Calibri (MS)"/>
              </a:rPr>
              <a:t>Expand supported languages, document types, integrations and validation tools while maintaining privacy and human oversight.</a:t>
            </a:r>
          </a:p>
        </p:txBody>
      </p:sp>
      <p:sp>
        <p:nvSpPr>
          <p:cNvPr id="1048789" name="TextBox 29"/>
          <p:cNvSpPr txBox="1"/>
          <p:nvPr/>
        </p:nvSpPr>
        <p:spPr>
          <a:xfrm rot="0">
            <a:off x="16426244" y="9694488"/>
            <a:ext cx="640728" cy="211674"/>
          </a:xfrm>
          <a:prstGeom prst="rect"/>
        </p:spPr>
        <p:txBody>
          <a:bodyPr anchor="t" bIns="0" lIns="0" rIns="0" rtlCol="0" tIns="0">
            <a:spAutoFit/>
          </a:bodyPr>
          <a:p>
            <a:pPr algn="r">
              <a:lnSpc>
                <a:spcPts val="1621"/>
              </a:lnSpc>
            </a:pPr>
            <a:r>
              <a:rPr sz="1351" lang="en-US">
                <a:solidFill>
                  <a:srgbClr val="525C6C"/>
                </a:solidFill>
                <a:latin typeface="Calibri (MS)"/>
                <a:ea typeface="Calibri (MS)"/>
                <a:cs typeface="Calibri (MS)"/>
                <a:sym typeface="Calibri (MS)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</p:bgPr>
    </p:bg>
    <p:spTree>
      <p:nvGrpSpPr>
        <p:cNvPr id="1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0" name="TextBox 2"/>
          <p:cNvSpPr txBox="1"/>
          <p:nvPr/>
        </p:nvSpPr>
        <p:spPr>
          <a:xfrm rot="0">
            <a:off x="846411" y="344348"/>
            <a:ext cx="12033904" cy="749256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5043"/>
              </a:lnSpc>
            </a:pPr>
            <a:r>
              <a:rPr b="1" sz="4203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9. Conclusion</a:t>
            </a:r>
          </a:p>
        </p:txBody>
      </p:sp>
      <p:sp>
        <p:nvSpPr>
          <p:cNvPr id="1048791" name="TextBox 3"/>
          <p:cNvSpPr txBox="1"/>
          <p:nvPr/>
        </p:nvSpPr>
        <p:spPr>
          <a:xfrm rot="0">
            <a:off x="887587" y="1188120"/>
            <a:ext cx="13269306" cy="495729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2161"/>
              </a:lnSpc>
            </a:pPr>
            <a:r>
              <a:rPr sz="1801" lang="en-US">
                <a:solidFill>
                  <a:srgbClr val="525C6C"/>
                </a:solidFill>
                <a:latin typeface="Calibri (MS)"/>
                <a:ea typeface="Calibri (MS)"/>
                <a:cs typeface="Calibri (MS)"/>
                <a:sym typeface="Calibri (MS)"/>
              </a:rPr>
              <a:t>Summary</a:t>
            </a:r>
          </a:p>
        </p:txBody>
      </p:sp>
      <p:grpSp>
        <p:nvGrpSpPr>
          <p:cNvPr id="115" name="Group 4"/>
          <p:cNvGrpSpPr/>
          <p:nvPr/>
        </p:nvGrpSpPr>
        <p:grpSpPr>
          <a:xfrm rot="0">
            <a:off x="1090984" y="2120494"/>
            <a:ext cx="7701267" cy="1867405"/>
            <a:chOff x="0" y="0"/>
            <a:chExt cx="10268356" cy="2489873"/>
          </a:xfrm>
        </p:grpSpPr>
        <p:sp>
          <p:nvSpPr>
            <p:cNvPr id="1048792" name="Freeform 5"/>
            <p:cNvSpPr/>
            <p:nvPr/>
          </p:nvSpPr>
          <p:spPr>
            <a:xfrm rot="0" flipH="0" flipV="0">
              <a:off x="0" y="0"/>
              <a:ext cx="10268458" cy="2489962"/>
            </a:xfrm>
            <a:custGeom>
              <a:avLst/>
              <a:ahLst/>
              <a:rect l="l" t="t" r="r" b="b"/>
              <a:pathLst>
                <a:path w="10268458" h="2489962">
                  <a:moveTo>
                    <a:pt x="0" y="415036"/>
                  </a:moveTo>
                  <a:cubicBezTo>
                    <a:pt x="0" y="185801"/>
                    <a:pt x="185801" y="0"/>
                    <a:pt x="415036" y="0"/>
                  </a:cubicBezTo>
                  <a:lnTo>
                    <a:pt x="9853422" y="0"/>
                  </a:lnTo>
                  <a:cubicBezTo>
                    <a:pt x="10082657" y="0"/>
                    <a:pt x="10268458" y="185801"/>
                    <a:pt x="10268458" y="415036"/>
                  </a:cubicBezTo>
                  <a:lnTo>
                    <a:pt x="10268458" y="2074926"/>
                  </a:lnTo>
                  <a:cubicBezTo>
                    <a:pt x="10268458" y="2304161"/>
                    <a:pt x="10082657" y="2489962"/>
                    <a:pt x="9853422" y="2489962"/>
                  </a:cubicBezTo>
                  <a:lnTo>
                    <a:pt x="415036" y="2489962"/>
                  </a:lnTo>
                  <a:cubicBezTo>
                    <a:pt x="185801" y="2489835"/>
                    <a:pt x="0" y="2304034"/>
                    <a:pt x="0" y="2074926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id="116" name="Group 6"/>
          <p:cNvGrpSpPr/>
          <p:nvPr/>
        </p:nvGrpSpPr>
        <p:grpSpPr>
          <a:xfrm rot="0">
            <a:off x="1098137" y="2127647"/>
            <a:ext cx="109814" cy="1853108"/>
            <a:chOff x="0" y="0"/>
            <a:chExt cx="146418" cy="2470810"/>
          </a:xfrm>
        </p:grpSpPr>
        <p:sp>
          <p:nvSpPr>
            <p:cNvPr id="1048793" name="Freeform 7"/>
            <p:cNvSpPr/>
            <p:nvPr/>
          </p:nvSpPr>
          <p:spPr>
            <a:xfrm rot="0" flipH="0" flipV="0">
              <a:off x="0" y="0"/>
              <a:ext cx="146431" cy="2470785"/>
            </a:xfrm>
            <a:custGeom>
              <a:avLst/>
              <a:ahLst/>
              <a:rect l="l" t="t" r="r" b="b"/>
              <a:pathLst>
                <a:path w="146431" h="2470785">
                  <a:moveTo>
                    <a:pt x="0" y="0"/>
                  </a:moveTo>
                  <a:lnTo>
                    <a:pt x="146431" y="0"/>
                  </a:lnTo>
                  <a:lnTo>
                    <a:pt x="146431" y="2470785"/>
                  </a:lnTo>
                  <a:lnTo>
                    <a:pt x="0" y="2470785"/>
                  </a:lnTo>
                  <a:close/>
                </a:path>
              </a:pathLst>
            </a:custGeom>
            <a:solidFill>
              <a:srgbClr val="366FC4"/>
            </a:solidFill>
          </p:spPr>
        </p:sp>
      </p:grpSp>
      <p:sp>
        <p:nvSpPr>
          <p:cNvPr id="1048794" name="TextBox 8"/>
          <p:cNvSpPr txBox="1"/>
          <p:nvPr/>
        </p:nvSpPr>
        <p:spPr>
          <a:xfrm rot="0">
            <a:off x="1532744" y="2335844"/>
            <a:ext cx="6886384" cy="514779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2702"/>
              </a:lnSpc>
            </a:pPr>
            <a:r>
              <a:rPr b="1" sz="2251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What LegalEase does</a:t>
            </a:r>
          </a:p>
        </p:txBody>
      </p:sp>
      <p:sp>
        <p:nvSpPr>
          <p:cNvPr id="1048795" name="TextBox 9"/>
          <p:cNvSpPr txBox="1"/>
          <p:nvPr/>
        </p:nvSpPr>
        <p:spPr>
          <a:xfrm rot="0">
            <a:off x="1532744" y="2986316"/>
            <a:ext cx="6886384" cy="770268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2071"/>
              </a:lnSpc>
            </a:pPr>
            <a:r>
              <a:rPr sz="1726" lang="en-US">
                <a:solidFill>
                  <a:srgbClr val="525C6C"/>
                </a:solidFill>
                <a:latin typeface="Calibri (MS)"/>
                <a:ea typeface="Calibri (MS)"/>
                <a:cs typeface="Calibri (MS)"/>
                <a:sym typeface="Calibri (MS)"/>
              </a:rPr>
              <a:t>Uses AI to help transform user-provided information into structured legal document drafts.</a:t>
            </a:r>
          </a:p>
        </p:txBody>
      </p:sp>
      <p:grpSp>
        <p:nvGrpSpPr>
          <p:cNvPr id="117" name="Group 10"/>
          <p:cNvGrpSpPr/>
          <p:nvPr/>
        </p:nvGrpSpPr>
        <p:grpSpPr>
          <a:xfrm rot="0">
            <a:off x="1090984" y="4454033"/>
            <a:ext cx="7701267" cy="1867405"/>
            <a:chOff x="0" y="0"/>
            <a:chExt cx="10268356" cy="2489873"/>
          </a:xfrm>
        </p:grpSpPr>
        <p:sp>
          <p:nvSpPr>
            <p:cNvPr id="1048796" name="Freeform 11"/>
            <p:cNvSpPr/>
            <p:nvPr/>
          </p:nvSpPr>
          <p:spPr>
            <a:xfrm rot="0" flipH="0" flipV="0">
              <a:off x="0" y="0"/>
              <a:ext cx="10268458" cy="2489962"/>
            </a:xfrm>
            <a:custGeom>
              <a:avLst/>
              <a:ahLst/>
              <a:rect l="l" t="t" r="r" b="b"/>
              <a:pathLst>
                <a:path w="10268458" h="2489962">
                  <a:moveTo>
                    <a:pt x="0" y="415036"/>
                  </a:moveTo>
                  <a:cubicBezTo>
                    <a:pt x="0" y="185801"/>
                    <a:pt x="185801" y="0"/>
                    <a:pt x="415036" y="0"/>
                  </a:cubicBezTo>
                  <a:lnTo>
                    <a:pt x="9853422" y="0"/>
                  </a:lnTo>
                  <a:cubicBezTo>
                    <a:pt x="10082657" y="0"/>
                    <a:pt x="10268458" y="185801"/>
                    <a:pt x="10268458" y="415036"/>
                  </a:cubicBezTo>
                  <a:lnTo>
                    <a:pt x="10268458" y="2074926"/>
                  </a:lnTo>
                  <a:cubicBezTo>
                    <a:pt x="10268458" y="2304161"/>
                    <a:pt x="10082657" y="2489962"/>
                    <a:pt x="9853422" y="2489962"/>
                  </a:cubicBezTo>
                  <a:lnTo>
                    <a:pt x="415036" y="2489962"/>
                  </a:lnTo>
                  <a:cubicBezTo>
                    <a:pt x="185801" y="2489835"/>
                    <a:pt x="0" y="2304034"/>
                    <a:pt x="0" y="2074926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id="118" name="Group 12"/>
          <p:cNvGrpSpPr/>
          <p:nvPr/>
        </p:nvGrpSpPr>
        <p:grpSpPr>
          <a:xfrm rot="0">
            <a:off x="1098137" y="4461186"/>
            <a:ext cx="109814" cy="1853108"/>
            <a:chOff x="0" y="0"/>
            <a:chExt cx="146418" cy="2470810"/>
          </a:xfrm>
        </p:grpSpPr>
        <p:sp>
          <p:nvSpPr>
            <p:cNvPr id="1048797" name="Freeform 13"/>
            <p:cNvSpPr/>
            <p:nvPr/>
          </p:nvSpPr>
          <p:spPr>
            <a:xfrm rot="0" flipH="0" flipV="0">
              <a:off x="0" y="0"/>
              <a:ext cx="146431" cy="2470785"/>
            </a:xfrm>
            <a:custGeom>
              <a:avLst/>
              <a:ahLst/>
              <a:rect l="l" t="t" r="r" b="b"/>
              <a:pathLst>
                <a:path w="146431" h="2470785">
                  <a:moveTo>
                    <a:pt x="0" y="0"/>
                  </a:moveTo>
                  <a:lnTo>
                    <a:pt x="146431" y="0"/>
                  </a:lnTo>
                  <a:lnTo>
                    <a:pt x="146431" y="2470785"/>
                  </a:lnTo>
                  <a:lnTo>
                    <a:pt x="0" y="2470785"/>
                  </a:lnTo>
                  <a:close/>
                </a:path>
              </a:pathLst>
            </a:custGeom>
            <a:solidFill>
              <a:srgbClr val="366FC4"/>
            </a:solidFill>
          </p:spPr>
        </p:sp>
      </p:grpSp>
      <p:sp>
        <p:nvSpPr>
          <p:cNvPr id="1048798" name="TextBox 14"/>
          <p:cNvSpPr txBox="1"/>
          <p:nvPr/>
        </p:nvSpPr>
        <p:spPr>
          <a:xfrm rot="0">
            <a:off x="1532744" y="4669384"/>
            <a:ext cx="6886384" cy="514779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2702"/>
              </a:lnSpc>
            </a:pPr>
            <a:r>
              <a:rPr b="1" sz="2251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Why it matters</a:t>
            </a:r>
          </a:p>
        </p:txBody>
      </p:sp>
      <p:sp>
        <p:nvSpPr>
          <p:cNvPr id="1048799" name="TextBox 15"/>
          <p:cNvSpPr txBox="1"/>
          <p:nvPr/>
        </p:nvSpPr>
        <p:spPr>
          <a:xfrm rot="0">
            <a:off x="1532744" y="5319865"/>
            <a:ext cx="6886384" cy="770268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2071"/>
              </a:lnSpc>
            </a:pPr>
            <a:r>
              <a:rPr sz="1726" lang="en-US">
                <a:solidFill>
                  <a:srgbClr val="525C6C"/>
                </a:solidFill>
                <a:latin typeface="Calibri (MS)"/>
                <a:ea typeface="Calibri (MS)"/>
                <a:cs typeface="Calibri (MS)"/>
                <a:sym typeface="Calibri (MS)"/>
              </a:rPr>
              <a:t>Can reduce repetitive work and make basic drafting more convenient.</a:t>
            </a:r>
          </a:p>
        </p:txBody>
      </p:sp>
      <p:grpSp>
        <p:nvGrpSpPr>
          <p:cNvPr id="119" name="Group 16"/>
          <p:cNvGrpSpPr/>
          <p:nvPr/>
        </p:nvGrpSpPr>
        <p:grpSpPr>
          <a:xfrm rot="0">
            <a:off x="9601562" y="2120494"/>
            <a:ext cx="7701267" cy="1867405"/>
            <a:chOff x="0" y="0"/>
            <a:chExt cx="10268356" cy="2489873"/>
          </a:xfrm>
        </p:grpSpPr>
        <p:sp>
          <p:nvSpPr>
            <p:cNvPr id="1048800" name="Freeform 17"/>
            <p:cNvSpPr/>
            <p:nvPr/>
          </p:nvSpPr>
          <p:spPr>
            <a:xfrm rot="0" flipH="0" flipV="0">
              <a:off x="0" y="0"/>
              <a:ext cx="10268458" cy="2489962"/>
            </a:xfrm>
            <a:custGeom>
              <a:avLst/>
              <a:ahLst/>
              <a:rect l="l" t="t" r="r" b="b"/>
              <a:pathLst>
                <a:path w="10268458" h="2489962">
                  <a:moveTo>
                    <a:pt x="0" y="415036"/>
                  </a:moveTo>
                  <a:cubicBezTo>
                    <a:pt x="0" y="185801"/>
                    <a:pt x="185801" y="0"/>
                    <a:pt x="415036" y="0"/>
                  </a:cubicBezTo>
                  <a:lnTo>
                    <a:pt x="9853422" y="0"/>
                  </a:lnTo>
                  <a:cubicBezTo>
                    <a:pt x="10082657" y="0"/>
                    <a:pt x="10268458" y="185801"/>
                    <a:pt x="10268458" y="415036"/>
                  </a:cubicBezTo>
                  <a:lnTo>
                    <a:pt x="10268458" y="2074926"/>
                  </a:lnTo>
                  <a:cubicBezTo>
                    <a:pt x="10268458" y="2304161"/>
                    <a:pt x="10082657" y="2489962"/>
                    <a:pt x="9853422" y="2489962"/>
                  </a:cubicBezTo>
                  <a:lnTo>
                    <a:pt x="415036" y="2489962"/>
                  </a:lnTo>
                  <a:cubicBezTo>
                    <a:pt x="185801" y="2489835"/>
                    <a:pt x="0" y="2304034"/>
                    <a:pt x="0" y="2074926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id="120" name="Group 18"/>
          <p:cNvGrpSpPr/>
          <p:nvPr/>
        </p:nvGrpSpPr>
        <p:grpSpPr>
          <a:xfrm rot="0">
            <a:off x="9608706" y="2127647"/>
            <a:ext cx="109814" cy="1853108"/>
            <a:chOff x="0" y="0"/>
            <a:chExt cx="146418" cy="2470810"/>
          </a:xfrm>
        </p:grpSpPr>
        <p:sp>
          <p:nvSpPr>
            <p:cNvPr id="1048801" name="Freeform 19"/>
            <p:cNvSpPr/>
            <p:nvPr/>
          </p:nvSpPr>
          <p:spPr>
            <a:xfrm rot="0" flipH="0" flipV="0">
              <a:off x="0" y="0"/>
              <a:ext cx="146431" cy="2470785"/>
            </a:xfrm>
            <a:custGeom>
              <a:avLst/>
              <a:ahLst/>
              <a:rect l="l" t="t" r="r" b="b"/>
              <a:pathLst>
                <a:path w="146431" h="2470785">
                  <a:moveTo>
                    <a:pt x="0" y="0"/>
                  </a:moveTo>
                  <a:lnTo>
                    <a:pt x="146431" y="0"/>
                  </a:lnTo>
                  <a:lnTo>
                    <a:pt x="146431" y="2470785"/>
                  </a:lnTo>
                  <a:lnTo>
                    <a:pt x="0" y="2470785"/>
                  </a:lnTo>
                  <a:close/>
                </a:path>
              </a:pathLst>
            </a:custGeom>
            <a:solidFill>
              <a:srgbClr val="366FC4"/>
            </a:solidFill>
          </p:spPr>
        </p:sp>
      </p:grpSp>
      <p:sp>
        <p:nvSpPr>
          <p:cNvPr id="1048802" name="TextBox 20"/>
          <p:cNvSpPr txBox="1"/>
          <p:nvPr/>
        </p:nvSpPr>
        <p:spPr>
          <a:xfrm rot="0">
            <a:off x="10043312" y="2335844"/>
            <a:ext cx="6886384" cy="514779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2702"/>
              </a:lnSpc>
            </a:pPr>
            <a:r>
              <a:rPr b="1" sz="2251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Human role</a:t>
            </a:r>
          </a:p>
        </p:txBody>
      </p:sp>
      <p:sp>
        <p:nvSpPr>
          <p:cNvPr id="1048803" name="TextBox 21"/>
          <p:cNvSpPr txBox="1"/>
          <p:nvPr/>
        </p:nvSpPr>
        <p:spPr>
          <a:xfrm rot="0">
            <a:off x="10043312" y="2986316"/>
            <a:ext cx="6886384" cy="770268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2071"/>
              </a:lnSpc>
            </a:pPr>
            <a:r>
              <a:rPr sz="1726" lang="en-US">
                <a:solidFill>
                  <a:srgbClr val="525C6C"/>
                </a:solidFill>
                <a:latin typeface="Calibri (MS)"/>
                <a:ea typeface="Calibri (MS)"/>
                <a:cs typeface="Calibri (MS)"/>
                <a:sym typeface="Calibri (MS)"/>
              </a:rPr>
              <a:t>Users should review the output for accuracy and context.</a:t>
            </a:r>
          </a:p>
        </p:txBody>
      </p:sp>
      <p:grpSp>
        <p:nvGrpSpPr>
          <p:cNvPr id="121" name="Group 22"/>
          <p:cNvGrpSpPr/>
          <p:nvPr/>
        </p:nvGrpSpPr>
        <p:grpSpPr>
          <a:xfrm rot="0">
            <a:off x="9601562" y="4454033"/>
            <a:ext cx="7701267" cy="1867405"/>
            <a:chOff x="0" y="0"/>
            <a:chExt cx="10268356" cy="2489873"/>
          </a:xfrm>
        </p:grpSpPr>
        <p:sp>
          <p:nvSpPr>
            <p:cNvPr id="1048804" name="Freeform 23"/>
            <p:cNvSpPr/>
            <p:nvPr/>
          </p:nvSpPr>
          <p:spPr>
            <a:xfrm rot="0" flipH="0" flipV="0">
              <a:off x="0" y="0"/>
              <a:ext cx="10268458" cy="2489962"/>
            </a:xfrm>
            <a:custGeom>
              <a:avLst/>
              <a:ahLst/>
              <a:rect l="l" t="t" r="r" b="b"/>
              <a:pathLst>
                <a:path w="10268458" h="2489962">
                  <a:moveTo>
                    <a:pt x="0" y="415036"/>
                  </a:moveTo>
                  <a:cubicBezTo>
                    <a:pt x="0" y="185801"/>
                    <a:pt x="185801" y="0"/>
                    <a:pt x="415036" y="0"/>
                  </a:cubicBezTo>
                  <a:lnTo>
                    <a:pt x="9853422" y="0"/>
                  </a:lnTo>
                  <a:cubicBezTo>
                    <a:pt x="10082657" y="0"/>
                    <a:pt x="10268458" y="185801"/>
                    <a:pt x="10268458" y="415036"/>
                  </a:cubicBezTo>
                  <a:lnTo>
                    <a:pt x="10268458" y="2074926"/>
                  </a:lnTo>
                  <a:cubicBezTo>
                    <a:pt x="10268458" y="2304161"/>
                    <a:pt x="10082657" y="2489962"/>
                    <a:pt x="9853422" y="2489962"/>
                  </a:cubicBezTo>
                  <a:lnTo>
                    <a:pt x="415036" y="2489962"/>
                  </a:lnTo>
                  <a:cubicBezTo>
                    <a:pt x="185801" y="2489835"/>
                    <a:pt x="0" y="2304034"/>
                    <a:pt x="0" y="2074926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id="122" name="Group 24"/>
          <p:cNvGrpSpPr/>
          <p:nvPr/>
        </p:nvGrpSpPr>
        <p:grpSpPr>
          <a:xfrm rot="0">
            <a:off x="9608706" y="4461186"/>
            <a:ext cx="109814" cy="1853108"/>
            <a:chOff x="0" y="0"/>
            <a:chExt cx="146418" cy="2470810"/>
          </a:xfrm>
        </p:grpSpPr>
        <p:sp>
          <p:nvSpPr>
            <p:cNvPr id="1048805" name="Freeform 25"/>
            <p:cNvSpPr/>
            <p:nvPr/>
          </p:nvSpPr>
          <p:spPr>
            <a:xfrm rot="0" flipH="0" flipV="0">
              <a:off x="0" y="0"/>
              <a:ext cx="146431" cy="2470785"/>
            </a:xfrm>
            <a:custGeom>
              <a:avLst/>
              <a:ahLst/>
              <a:rect l="l" t="t" r="r" b="b"/>
              <a:pathLst>
                <a:path w="146431" h="2470785">
                  <a:moveTo>
                    <a:pt x="0" y="0"/>
                  </a:moveTo>
                  <a:lnTo>
                    <a:pt x="146431" y="0"/>
                  </a:lnTo>
                  <a:lnTo>
                    <a:pt x="146431" y="2470785"/>
                  </a:lnTo>
                  <a:lnTo>
                    <a:pt x="0" y="2470785"/>
                  </a:lnTo>
                  <a:close/>
                </a:path>
              </a:pathLst>
            </a:custGeom>
            <a:solidFill>
              <a:srgbClr val="366FC4"/>
            </a:solidFill>
          </p:spPr>
        </p:sp>
      </p:grpSp>
      <p:sp>
        <p:nvSpPr>
          <p:cNvPr id="1048806" name="TextBox 26"/>
          <p:cNvSpPr txBox="1"/>
          <p:nvPr/>
        </p:nvSpPr>
        <p:spPr>
          <a:xfrm rot="0">
            <a:off x="10043312" y="4669384"/>
            <a:ext cx="6886384" cy="514779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2702"/>
              </a:lnSpc>
            </a:pPr>
            <a:r>
              <a:rPr b="1" sz="2251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Legal responsibility</a:t>
            </a:r>
          </a:p>
        </p:txBody>
      </p:sp>
      <p:sp>
        <p:nvSpPr>
          <p:cNvPr id="1048807" name="TextBox 27"/>
          <p:cNvSpPr txBox="1"/>
          <p:nvPr/>
        </p:nvSpPr>
        <p:spPr>
          <a:xfrm rot="0">
            <a:off x="10043312" y="5319865"/>
            <a:ext cx="6886384" cy="770268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2071"/>
              </a:lnSpc>
            </a:pPr>
            <a:r>
              <a:rPr sz="1726" lang="en-US">
                <a:solidFill>
                  <a:srgbClr val="525C6C"/>
                </a:solidFill>
                <a:latin typeface="Calibri (MS)"/>
                <a:ea typeface="Calibri (MS)"/>
                <a:cs typeface="Calibri (MS)"/>
                <a:sym typeface="Calibri (MS)"/>
              </a:rPr>
              <a:t>For important legal matters, qualified legal advice should be obtained.</a:t>
            </a:r>
          </a:p>
        </p:txBody>
      </p:sp>
      <p:grpSp>
        <p:nvGrpSpPr>
          <p:cNvPr id="123" name="Group 28"/>
          <p:cNvGrpSpPr/>
          <p:nvPr/>
        </p:nvGrpSpPr>
        <p:grpSpPr>
          <a:xfrm rot="0">
            <a:off x="4522670" y="7473915"/>
            <a:ext cx="9211208" cy="1112434"/>
            <a:chOff x="0" y="0"/>
            <a:chExt cx="12281611" cy="1483246"/>
          </a:xfrm>
        </p:grpSpPr>
        <p:sp>
          <p:nvSpPr>
            <p:cNvPr id="1048808" name="Freeform 29"/>
            <p:cNvSpPr/>
            <p:nvPr/>
          </p:nvSpPr>
          <p:spPr>
            <a:xfrm rot="0" flipH="0" flipV="0">
              <a:off x="0" y="0"/>
              <a:ext cx="12281662" cy="1483360"/>
            </a:xfrm>
            <a:custGeom>
              <a:avLst/>
              <a:ahLst/>
              <a:rect l="l" t="t" r="r" b="b"/>
              <a:pathLst>
                <a:path w="12281662" h="1483360">
                  <a:moveTo>
                    <a:pt x="0" y="247269"/>
                  </a:moveTo>
                  <a:cubicBezTo>
                    <a:pt x="0" y="110744"/>
                    <a:pt x="110744" y="0"/>
                    <a:pt x="247269" y="0"/>
                  </a:cubicBezTo>
                  <a:lnTo>
                    <a:pt x="12034393" y="0"/>
                  </a:lnTo>
                  <a:cubicBezTo>
                    <a:pt x="12170918" y="0"/>
                    <a:pt x="12281662" y="110744"/>
                    <a:pt x="12281662" y="247269"/>
                  </a:cubicBezTo>
                  <a:lnTo>
                    <a:pt x="12281662" y="1236091"/>
                  </a:lnTo>
                  <a:cubicBezTo>
                    <a:pt x="12281662" y="1372616"/>
                    <a:pt x="12170918" y="1483360"/>
                    <a:pt x="12034393" y="1483360"/>
                  </a:cubicBezTo>
                  <a:lnTo>
                    <a:pt x="247269" y="1483360"/>
                  </a:lnTo>
                  <a:cubicBezTo>
                    <a:pt x="110744" y="1483233"/>
                    <a:pt x="0" y="1372616"/>
                    <a:pt x="0" y="1236091"/>
                  </a:cubicBezTo>
                  <a:close/>
                </a:path>
              </a:pathLst>
            </a:custGeom>
            <a:solidFill>
              <a:srgbClr val="E8F6F4"/>
            </a:solidFill>
            <a:ln w="14299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1048809" name="TextBox 30"/>
          <p:cNvSpPr txBox="1"/>
          <p:nvPr/>
        </p:nvSpPr>
        <p:spPr>
          <a:xfrm rot="0">
            <a:off x="4731077" y="7579452"/>
            <a:ext cx="8794394" cy="844220"/>
          </a:xfrm>
          <a:prstGeom prst="rect"/>
        </p:spPr>
        <p:txBody>
          <a:bodyPr anchor="t" bIns="0" lIns="0" rIns="0" rtlCol="0" tIns="0">
            <a:spAutoFit/>
          </a:bodyPr>
          <a:p>
            <a:pPr algn="ctr">
              <a:lnSpc>
                <a:spcPts val="2702"/>
              </a:lnSpc>
            </a:pPr>
            <a:r>
              <a:rPr b="1" sz="2251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LEGALease = AI ASSISTANCE + HUMAN REVIEW</a:t>
            </a:r>
          </a:p>
        </p:txBody>
      </p:sp>
      <p:sp>
        <p:nvSpPr>
          <p:cNvPr id="1048810" name="TextBox 31"/>
          <p:cNvSpPr txBox="1"/>
          <p:nvPr/>
        </p:nvSpPr>
        <p:spPr>
          <a:xfrm rot="0">
            <a:off x="16426244" y="9694488"/>
            <a:ext cx="640728" cy="211674"/>
          </a:xfrm>
          <a:prstGeom prst="rect"/>
        </p:spPr>
        <p:txBody>
          <a:bodyPr anchor="t" bIns="0" lIns="0" rIns="0" rtlCol="0" tIns="0">
            <a:spAutoFit/>
          </a:bodyPr>
          <a:p>
            <a:pPr algn="r">
              <a:lnSpc>
                <a:spcPts val="1621"/>
              </a:lnSpc>
            </a:pPr>
            <a:r>
              <a:rPr sz="1351" lang="en-US">
                <a:solidFill>
                  <a:srgbClr val="525C6C"/>
                </a:solidFill>
                <a:latin typeface="Calibri (MS)"/>
                <a:ea typeface="Calibri (MS)"/>
                <a:cs typeface="Calibri (MS)"/>
                <a:sym typeface="Calibri (MS)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LinksUpToDate>0</LinksUpToDate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LegalEase_AI_Legal_Document_Generator_Diagram_PPT.pptx</dc:title>
  <dc:creator>V2249</dc:creator>
  <dcterms:created xsi:type="dcterms:W3CDTF">2006-08-15T13:00:00Z</dcterms:created>
  <dcterms:modified xsi:type="dcterms:W3CDTF">2026-09-30T07:22:26Z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11995d91398d41fd801e12e5a9324527_23</vt:lpwstr>
  </property>
</Properties>
</file>